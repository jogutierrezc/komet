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83" r:id="rId5"/>
  </p:sldMasterIdLst>
  <p:notesMasterIdLst>
    <p:notesMasterId r:id="rId18"/>
  </p:notesMasterIdLst>
  <p:sldIdLst>
    <p:sldId id="263" r:id="rId6"/>
    <p:sldId id="296" r:id="rId7"/>
    <p:sldId id="297" r:id="rId8"/>
    <p:sldId id="298" r:id="rId9"/>
    <p:sldId id="317" r:id="rId10"/>
    <p:sldId id="328" r:id="rId11"/>
    <p:sldId id="329" r:id="rId12"/>
    <p:sldId id="331" r:id="rId13"/>
    <p:sldId id="322" r:id="rId14"/>
    <p:sldId id="323" r:id="rId15"/>
    <p:sldId id="330" r:id="rId16"/>
    <p:sldId id="266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cencia Servicio" initials="DS" lastIdx="1" clrIdx="0">
    <p:extLst>
      <p:ext uri="{19B8F6BF-5375-455C-9EA6-DF929625EA0E}">
        <p15:presenceInfo xmlns:p15="http://schemas.microsoft.com/office/powerpoint/2012/main" userId="S-1-5-21-3822281196-3131016781-929717536-928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232"/>
    <p:restoredTop sz="96311"/>
  </p:normalViewPr>
  <p:slideViewPr>
    <p:cSldViewPr snapToGrid="0">
      <p:cViewPr varScale="1">
        <p:scale>
          <a:sx n="83" d="100"/>
          <a:sy n="83" d="100"/>
        </p:scale>
        <p:origin x="12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7DB2D-1ADF-AD40-A7EB-E569FBD590C4}" type="datetimeFigureOut">
              <a:rPr lang="es-CO" smtClean="0"/>
              <a:t>28/05/2026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0BDA26-279D-AB41-B7C9-C167F1A24F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10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BDA26-279D-AB41-B7C9-C167F1A24F25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435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d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22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des_Text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DEE1A-38B2-FAD5-8A26-26D67EE74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7373" y="1007953"/>
            <a:ext cx="9120403" cy="688284"/>
          </a:xfrm>
          <a:prstGeom prst="rect">
            <a:avLst/>
          </a:prstGeom>
        </p:spPr>
        <p:txBody>
          <a:bodyPr anchor="ctr"/>
          <a:lstStyle>
            <a:lvl1pPr algn="ctr">
              <a:defRPr sz="2000" b="1">
                <a:solidFill>
                  <a:srgbClr val="0551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B5779F-0361-5ED2-D406-B6A7F1507C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14304" y="1831510"/>
            <a:ext cx="9167614" cy="33615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ES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2582399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des_text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DEE1A-38B2-FAD5-8A26-26D67EE74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5931" y="1338035"/>
            <a:ext cx="10278980" cy="850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2000" b="1">
                <a:solidFill>
                  <a:srgbClr val="0551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B5779F-0361-5ED2-D406-B6A7F1507C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5931" y="3293978"/>
            <a:ext cx="10236869" cy="24434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4060ED4-3DBD-5FA8-DEC9-41FCFE01C0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931" y="2323821"/>
            <a:ext cx="10278980" cy="8920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1678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8B6B99F-CC39-DD4D-AE30-BABC42298ACB}"/>
              </a:ext>
            </a:extLst>
          </p:cNvPr>
          <p:cNvSpPr txBox="1"/>
          <p:nvPr userDrawn="1"/>
        </p:nvSpPr>
        <p:spPr>
          <a:xfrm>
            <a:off x="3335328" y="2967335"/>
            <a:ext cx="55213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674542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d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7126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des_Text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DEE1A-38B2-FAD5-8A26-26D67EE74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7373" y="1007953"/>
            <a:ext cx="9120403" cy="688284"/>
          </a:xfrm>
          <a:prstGeom prst="rect">
            <a:avLst/>
          </a:prstGeom>
        </p:spPr>
        <p:txBody>
          <a:bodyPr anchor="ctr"/>
          <a:lstStyle>
            <a:lvl1pPr algn="ctr">
              <a:defRPr sz="2000" b="1">
                <a:solidFill>
                  <a:srgbClr val="0551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B5779F-0361-5ED2-D406-B6A7F1507C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14304" y="1831510"/>
            <a:ext cx="9167614" cy="33615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ES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2132726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des_text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DEE1A-38B2-FAD5-8A26-26D67EE74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5931" y="1338035"/>
            <a:ext cx="10278980" cy="850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2000" b="1">
                <a:solidFill>
                  <a:srgbClr val="0551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B5779F-0361-5ED2-D406-B6A7F1507C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5931" y="3293978"/>
            <a:ext cx="10236869" cy="24434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4060ED4-3DBD-5FA8-DEC9-41FCFE01C0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931" y="2323821"/>
            <a:ext cx="10278980" cy="8920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60121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8B6B99F-CC39-DD4D-AE30-BABC42298ACB}"/>
              </a:ext>
            </a:extLst>
          </p:cNvPr>
          <p:cNvSpPr txBox="1"/>
          <p:nvPr userDrawn="1"/>
        </p:nvSpPr>
        <p:spPr>
          <a:xfrm>
            <a:off x="3335328" y="2967335"/>
            <a:ext cx="55213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591800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759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1" r:id="rId2"/>
    <p:sldLayoutId id="2147483662" r:id="rId3"/>
    <p:sldLayoutId id="214748368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44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824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9F98C-3201-6399-C66E-F86A20BA6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075" y="1255923"/>
            <a:ext cx="10296123" cy="991587"/>
          </a:xfrm>
        </p:spPr>
        <p:txBody>
          <a:bodyPr>
            <a:noAutofit/>
          </a:bodyPr>
          <a:lstStyle/>
          <a:p>
            <a:r>
              <a:rPr lang="es-CO" sz="2400" dirty="0"/>
              <a:t>INFORME </a:t>
            </a:r>
            <a:r>
              <a:rPr lang="es-CO" sz="2400" dirty="0" smtClean="0"/>
              <a:t>DE AUTOEVALUACIÓN </a:t>
            </a:r>
            <a:r>
              <a:rPr lang="es-CO" sz="2400" dirty="0" smtClean="0"/>
              <a:t>PRACTICAS FORMATIVAS </a:t>
            </a:r>
            <a:endParaRPr lang="es-CO" sz="2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ECA1D6-4C61-0784-82A0-573955E97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745" y="2748713"/>
            <a:ext cx="10513595" cy="3710291"/>
          </a:xfrm>
        </p:spPr>
        <p:txBody>
          <a:bodyPr>
            <a:normAutofit/>
          </a:bodyPr>
          <a:lstStyle/>
          <a:p>
            <a:pPr algn="ctr"/>
            <a:endParaRPr lang="es-CO" sz="1800" dirty="0" smtClean="0">
              <a:solidFill>
                <a:srgbClr val="FF0000"/>
              </a:solidFill>
            </a:endParaRPr>
          </a:p>
          <a:p>
            <a:pPr algn="ctr"/>
            <a:r>
              <a:rPr lang="es-CO" sz="1800" dirty="0" smtClean="0">
                <a:solidFill>
                  <a:srgbClr val="FF0000"/>
                </a:solidFill>
              </a:rPr>
              <a:t>NOMBRE </a:t>
            </a:r>
            <a:r>
              <a:rPr lang="es-CO" sz="1800" dirty="0">
                <a:solidFill>
                  <a:srgbClr val="FF0000"/>
                </a:solidFill>
              </a:rPr>
              <a:t>DEL ESCENARIO DE </a:t>
            </a:r>
            <a:r>
              <a:rPr lang="es-CO" sz="1800" dirty="0" smtClean="0">
                <a:solidFill>
                  <a:srgbClr val="FF0000"/>
                </a:solidFill>
              </a:rPr>
              <a:t>PRÁCTICAS</a:t>
            </a:r>
          </a:p>
          <a:p>
            <a:pPr algn="ctr"/>
            <a:endParaRPr lang="es-ES" sz="1800" dirty="0">
              <a:solidFill>
                <a:srgbClr val="FF0000"/>
              </a:solidFill>
            </a:endParaRPr>
          </a:p>
          <a:p>
            <a:pPr algn="ctr"/>
            <a:r>
              <a:rPr lang="es-ES" sz="1800" dirty="0" smtClean="0">
                <a:solidFill>
                  <a:srgbClr val="FF0000"/>
                </a:solidFill>
              </a:rPr>
              <a:t>COORDINADORA DE PRACTICAS</a:t>
            </a:r>
          </a:p>
          <a:p>
            <a:pPr algn="ctr"/>
            <a:r>
              <a:rPr lang="es-ES" sz="1800" dirty="0" smtClean="0">
                <a:solidFill>
                  <a:srgbClr val="FF0000"/>
                </a:solidFill>
              </a:rPr>
              <a:t>XXXXXXX</a:t>
            </a:r>
            <a:endParaRPr lang="es-CO" sz="1800" dirty="0">
              <a:solidFill>
                <a:srgbClr val="FF0000"/>
              </a:solidFill>
            </a:endParaRPr>
          </a:p>
          <a:p>
            <a:pPr algn="ctr"/>
            <a:endParaRPr lang="es-CO" sz="2100" dirty="0">
              <a:solidFill>
                <a:srgbClr val="FF0000"/>
              </a:solidFill>
            </a:endParaRPr>
          </a:p>
          <a:p>
            <a:pPr algn="ctr"/>
            <a:r>
              <a:rPr lang="es-CO" sz="1600" dirty="0" smtClean="0">
                <a:solidFill>
                  <a:srgbClr val="FF0000"/>
                </a:solidFill>
              </a:rPr>
              <a:t>              </a:t>
            </a:r>
            <a:r>
              <a:rPr lang="es-CO" sz="1400" dirty="0" smtClean="0">
                <a:solidFill>
                  <a:srgbClr val="FF0000"/>
                </a:solidFill>
              </a:rPr>
              <a:t>INSERTAR </a:t>
            </a:r>
            <a:r>
              <a:rPr lang="es-CO" sz="1400" dirty="0">
                <a:solidFill>
                  <a:srgbClr val="FF0000"/>
                </a:solidFill>
              </a:rPr>
              <a:t>LOGO DEL ESCENARIO                                          INSERTAR LOGO ACTUAL PROGRAMA ACADÉMICO </a:t>
            </a:r>
          </a:p>
          <a:p>
            <a:endParaRPr lang="es-CO" sz="2100" dirty="0">
              <a:solidFill>
                <a:srgbClr val="FF0000"/>
              </a:solidFill>
            </a:endParaRPr>
          </a:p>
          <a:p>
            <a:pPr algn="ctr"/>
            <a:r>
              <a:rPr lang="es-CO" sz="2100" dirty="0" smtClean="0"/>
              <a:t>2026 </a:t>
            </a:r>
            <a:r>
              <a:rPr lang="es-CO" sz="21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16614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58162D8-8902-4334-3976-B35ACC8C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931" y="1105067"/>
            <a:ext cx="10717316" cy="907688"/>
          </a:xfrm>
        </p:spPr>
        <p:txBody>
          <a:bodyPr/>
          <a:lstStyle/>
          <a:p>
            <a:r>
              <a:rPr lang="en-US" sz="2800" dirty="0"/>
              <a:t>ESTUDIANTES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76CA183-F715-8AEE-74BB-A3ADA6353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931" y="3061009"/>
            <a:ext cx="10717316" cy="3254549"/>
          </a:xfrm>
        </p:spPr>
        <p:txBody>
          <a:bodyPr>
            <a:normAutofit/>
          </a:bodyPr>
          <a:lstStyle/>
          <a:p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DFE7425-F805-08D0-8A8F-4792B027E6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5931" y="2090853"/>
            <a:ext cx="10717316" cy="853825"/>
          </a:xfrm>
        </p:spPr>
        <p:txBody>
          <a:bodyPr/>
          <a:lstStyle/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1452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77391"/>
              </p:ext>
            </p:extLst>
          </p:nvPr>
        </p:nvGraphicFramePr>
        <p:xfrm>
          <a:off x="800097" y="1910440"/>
          <a:ext cx="10252215" cy="350684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17405">
                  <a:extLst>
                    <a:ext uri="{9D8B030D-6E8A-4147-A177-3AD203B41FA5}">
                      <a16:colId xmlns:a16="http://schemas.microsoft.com/office/drawing/2014/main" val="2526320552"/>
                    </a:ext>
                  </a:extLst>
                </a:gridCol>
                <a:gridCol w="3417405">
                  <a:extLst>
                    <a:ext uri="{9D8B030D-6E8A-4147-A177-3AD203B41FA5}">
                      <a16:colId xmlns:a16="http://schemas.microsoft.com/office/drawing/2014/main" val="294589471"/>
                    </a:ext>
                  </a:extLst>
                </a:gridCol>
                <a:gridCol w="3417405">
                  <a:extLst>
                    <a:ext uri="{9D8B030D-6E8A-4147-A177-3AD203B41FA5}">
                      <a16:colId xmlns:a16="http://schemas.microsoft.com/office/drawing/2014/main" val="1227954160"/>
                    </a:ext>
                  </a:extLst>
                </a:gridCol>
              </a:tblGrid>
              <a:tr h="623440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Docentes</a:t>
                      </a:r>
                      <a:r>
                        <a:rPr lang="es-CO" sz="20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(s) a cargo</a:t>
                      </a:r>
                      <a:endParaRPr lang="es-CO" sz="2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N° total de estudiantes</a:t>
                      </a:r>
                      <a:r>
                        <a:rPr lang="es-CO" sz="20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al semestre</a:t>
                      </a:r>
                      <a:endParaRPr lang="es-CO" sz="2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N°</a:t>
                      </a:r>
                      <a:r>
                        <a:rPr lang="es-CO" sz="20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de horas diarias/semanal</a:t>
                      </a:r>
                      <a:endParaRPr lang="es-CO" sz="2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41017"/>
                  </a:ext>
                </a:extLst>
              </a:tr>
              <a:tr h="2161042">
                <a:tc>
                  <a:txBody>
                    <a:bodyPr/>
                    <a:lstStyle/>
                    <a:p>
                      <a:pPr algn="ctr"/>
                      <a:endParaRPr lang="es-CO" sz="1600" dirty="0">
                        <a:solidFill>
                          <a:srgbClr val="00B0F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600" dirty="0">
                        <a:solidFill>
                          <a:srgbClr val="00B0F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600" dirty="0">
                        <a:solidFill>
                          <a:srgbClr val="00B0F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682461"/>
                  </a:ext>
                </a:extLst>
              </a:tr>
              <a:tr h="644765">
                <a:tc gridSpan="3">
                  <a:txBody>
                    <a:bodyPr/>
                    <a:lstStyle/>
                    <a:p>
                      <a:pPr algn="l"/>
                      <a:r>
                        <a:rPr lang="es-CO" sz="1600" b="1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DE SEMANAS AL SEMESTRE: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CO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CO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688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719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377888"/>
              </p:ext>
            </p:extLst>
          </p:nvPr>
        </p:nvGraphicFramePr>
        <p:xfrm>
          <a:off x="1349162" y="1457449"/>
          <a:ext cx="9581646" cy="436244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790823">
                  <a:extLst>
                    <a:ext uri="{9D8B030D-6E8A-4147-A177-3AD203B41FA5}">
                      <a16:colId xmlns:a16="http://schemas.microsoft.com/office/drawing/2014/main" val="434074638"/>
                    </a:ext>
                  </a:extLst>
                </a:gridCol>
                <a:gridCol w="4790823">
                  <a:extLst>
                    <a:ext uri="{9D8B030D-6E8A-4147-A177-3AD203B41FA5}">
                      <a16:colId xmlns:a16="http://schemas.microsoft.com/office/drawing/2014/main" val="1566496758"/>
                    </a:ext>
                  </a:extLst>
                </a:gridCol>
              </a:tblGrid>
              <a:tr h="580671">
                <a:tc>
                  <a:txBody>
                    <a:bodyPr/>
                    <a:lstStyle/>
                    <a:p>
                      <a:pPr algn="ctr"/>
                      <a:r>
                        <a:rPr lang="es-CO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COMPETENCIA DE LA PRÁCTICA FORMATIVA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RESULTADO DE APRENDIZAJE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14157"/>
                  </a:ext>
                </a:extLst>
              </a:tr>
              <a:tr h="3722369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869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146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84D2FF-23DE-97F7-D6D5-20BAA92C1B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5988" y="1042126"/>
            <a:ext cx="9120399" cy="688287"/>
          </a:xfrm>
        </p:spPr>
        <p:txBody>
          <a:bodyPr/>
          <a:lstStyle/>
          <a:p>
            <a:pPr lvl="0"/>
            <a:r>
              <a:rPr lang="es-CO" spc="-1" dirty="0">
                <a:latin typeface="Tahoma"/>
                <a:ea typeface="Tahoma"/>
              </a:rPr>
              <a:t>MODELO DE AUTOEVALUACIÓN DE LA RELACIÓN DOCENCIA SERVICIO (ACUERDO 00273 DE 2021)</a:t>
            </a:r>
            <a:r>
              <a:rPr lang="es-CO" b="0" spc="-1" dirty="0">
                <a:latin typeface="Arial"/>
              </a:rPr>
              <a:t/>
            </a:r>
            <a:br>
              <a:rPr lang="es-CO" b="0" spc="-1" dirty="0">
                <a:latin typeface="Arial"/>
              </a:rPr>
            </a:br>
            <a:endParaRPr lang="es-CO" dirty="0"/>
          </a:p>
        </p:txBody>
      </p:sp>
      <p:pic>
        <p:nvPicPr>
          <p:cNvPr id="3" name="Imagen 4">
            <a:extLst>
              <a:ext uri="{FF2B5EF4-FFF2-40B4-BE49-F238E27FC236}">
                <a16:creationId xmlns:a16="http://schemas.microsoft.com/office/drawing/2014/main" id="{81B11BFB-54F6-FA6B-F57E-67D7664D4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20" y="1730413"/>
            <a:ext cx="7461688" cy="4591299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30701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EVALUACIÓN DE LA RELACIÓN DOCENCIA SERVICIO (RESULTADOS GLOBALES DEL PROGRAMA EN EL ESCENARIO)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400" b="1" dirty="0" smtClean="0"/>
              <a:t>Colocar tabla y grafico</a:t>
            </a:r>
            <a:endParaRPr lang="es-CO" sz="1400" b="1" dirty="0"/>
          </a:p>
        </p:txBody>
      </p:sp>
    </p:spTree>
    <p:extLst>
      <p:ext uri="{BB962C8B-B14F-4D97-AF65-F5344CB8AC3E}">
        <p14:creationId xmlns:p14="http://schemas.microsoft.com/office/powerpoint/2010/main" val="2814688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82504" y="863814"/>
            <a:ext cx="10278980" cy="850065"/>
          </a:xfrm>
        </p:spPr>
        <p:txBody>
          <a:bodyPr/>
          <a:lstStyle/>
          <a:p>
            <a:pPr algn="r"/>
            <a:r>
              <a:rPr lang="es-CO" dirty="0"/>
              <a:t>OBSERVACIONES DE LA </a:t>
            </a:r>
            <a:r>
              <a:rPr lang="es-CO" dirty="0" smtClean="0"/>
              <a:t>EVALUACIÓN</a:t>
            </a:r>
            <a:endParaRPr lang="es-CO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0"/>
          </p:nvPr>
        </p:nvSpPr>
        <p:spPr>
          <a:xfrm>
            <a:off x="991162" y="1760179"/>
            <a:ext cx="9768518" cy="496230"/>
          </a:xfrm>
        </p:spPr>
        <p:txBody>
          <a:bodyPr/>
          <a:lstStyle/>
          <a:p>
            <a:r>
              <a:rPr lang="es-CO" sz="2400" dirty="0"/>
              <a:t>Coordinador </a:t>
            </a:r>
            <a:r>
              <a:rPr lang="es-CO" sz="2400" dirty="0" smtClean="0"/>
              <a:t>de Prácticas</a:t>
            </a:r>
            <a:endParaRPr lang="es-CO" sz="2400" dirty="0"/>
          </a:p>
        </p:txBody>
      </p:sp>
      <p:graphicFrame>
        <p:nvGraphicFramePr>
          <p:cNvPr id="6" name="Marcador de contenido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3510909"/>
              </p:ext>
            </p:extLst>
          </p:nvPr>
        </p:nvGraphicFramePr>
        <p:xfrm>
          <a:off x="891250" y="2558008"/>
          <a:ext cx="10208871" cy="3472404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4250402">
                  <a:extLst>
                    <a:ext uri="{9D8B030D-6E8A-4147-A177-3AD203B41FA5}">
                      <a16:colId xmlns:a16="http://schemas.microsoft.com/office/drawing/2014/main" val="3731201715"/>
                    </a:ext>
                  </a:extLst>
                </a:gridCol>
                <a:gridCol w="1951080">
                  <a:extLst>
                    <a:ext uri="{9D8B030D-6E8A-4147-A177-3AD203B41FA5}">
                      <a16:colId xmlns:a16="http://schemas.microsoft.com/office/drawing/2014/main" val="2321214819"/>
                    </a:ext>
                  </a:extLst>
                </a:gridCol>
                <a:gridCol w="1870270">
                  <a:extLst>
                    <a:ext uri="{9D8B030D-6E8A-4147-A177-3AD203B41FA5}">
                      <a16:colId xmlns:a16="http://schemas.microsoft.com/office/drawing/2014/main" val="2136967414"/>
                    </a:ext>
                  </a:extLst>
                </a:gridCol>
                <a:gridCol w="2137119">
                  <a:extLst>
                    <a:ext uri="{9D8B030D-6E8A-4147-A177-3AD203B41FA5}">
                      <a16:colId xmlns:a16="http://schemas.microsoft.com/office/drawing/2014/main" val="2016555865"/>
                    </a:ext>
                  </a:extLst>
                </a:gridCol>
              </a:tblGrid>
              <a:tr h="5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CONDICIONES DE CALIDAD DE LA RDS  EVALUADAS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FORTALEZAS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DIFICULTADES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SUGERENCIAS PARA MEJORAR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extLst>
                  <a:ext uri="{0D108BD9-81ED-4DB2-BD59-A6C34878D82A}">
                    <a16:rowId xmlns:a16="http://schemas.microsoft.com/office/drawing/2014/main" val="3618546185"/>
                  </a:ext>
                </a:extLst>
              </a:tr>
              <a:tr h="3085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 ASPECTOS GENERALES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b"/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b"/>
                </a:tc>
                <a:extLst>
                  <a:ext uri="{0D108BD9-81ED-4DB2-BD59-A6C34878D82A}">
                    <a16:rowId xmlns:a16="http://schemas.microsoft.com/office/drawing/2014/main" val="4250210535"/>
                  </a:ext>
                </a:extLst>
              </a:tr>
              <a:tr h="4577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2. CAPACIDAD INSTALADA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144804"/>
                  </a:ext>
                </a:extLst>
              </a:tr>
              <a:tr h="5947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3. SEGURIDAD, PROTECCIÓN Y BIENESTAR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444766"/>
                  </a:ext>
                </a:extLst>
              </a:tr>
              <a:tr h="6177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4. ORGANIZACIÓN ADMINISTRATIVA PARA LA DOCENCIA SERVICIO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95078"/>
                  </a:ext>
                </a:extLst>
              </a:tr>
              <a:tr h="3085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5. PRACTICAS FORMATIVAS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06015"/>
                  </a:ext>
                </a:extLst>
              </a:tr>
              <a:tr h="6177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6.  CULTURA DEL MEJORAMIENTO CONTINUO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699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560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sz="quarter" idx="10"/>
          </p:nvPr>
        </p:nvSpPr>
        <p:spPr>
          <a:xfrm>
            <a:off x="760322" y="928765"/>
            <a:ext cx="10278980" cy="892059"/>
          </a:xfrm>
        </p:spPr>
        <p:txBody>
          <a:bodyPr/>
          <a:lstStyle/>
          <a:p>
            <a:r>
              <a:rPr lang="es-CO" sz="2400" dirty="0"/>
              <a:t>Estudiantes al escenario de práctica</a:t>
            </a:r>
          </a:p>
        </p:txBody>
      </p:sp>
      <p:graphicFrame>
        <p:nvGraphicFramePr>
          <p:cNvPr id="3" name="Marcador de contenido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3443247"/>
              </p:ext>
            </p:extLst>
          </p:nvPr>
        </p:nvGraphicFramePr>
        <p:xfrm>
          <a:off x="902825" y="1801273"/>
          <a:ext cx="10220446" cy="4325332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4255221">
                  <a:extLst>
                    <a:ext uri="{9D8B030D-6E8A-4147-A177-3AD203B41FA5}">
                      <a16:colId xmlns:a16="http://schemas.microsoft.com/office/drawing/2014/main" val="3731201715"/>
                    </a:ext>
                  </a:extLst>
                </a:gridCol>
                <a:gridCol w="1953292">
                  <a:extLst>
                    <a:ext uri="{9D8B030D-6E8A-4147-A177-3AD203B41FA5}">
                      <a16:colId xmlns:a16="http://schemas.microsoft.com/office/drawing/2014/main" val="2321214819"/>
                    </a:ext>
                  </a:extLst>
                </a:gridCol>
                <a:gridCol w="1872391">
                  <a:extLst>
                    <a:ext uri="{9D8B030D-6E8A-4147-A177-3AD203B41FA5}">
                      <a16:colId xmlns:a16="http://schemas.microsoft.com/office/drawing/2014/main" val="2136967414"/>
                    </a:ext>
                  </a:extLst>
                </a:gridCol>
                <a:gridCol w="2139542">
                  <a:extLst>
                    <a:ext uri="{9D8B030D-6E8A-4147-A177-3AD203B41FA5}">
                      <a16:colId xmlns:a16="http://schemas.microsoft.com/office/drawing/2014/main" val="2016555865"/>
                    </a:ext>
                  </a:extLst>
                </a:gridCol>
              </a:tblGrid>
              <a:tr h="7066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CONDICIONES DE CALIDAD DE LA RDS  EVALUADAS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FORTALEZAS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DIFICULTADES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SUGERENCIAS PARA MEJORAR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extLst>
                  <a:ext uri="{0D108BD9-81ED-4DB2-BD59-A6C34878D82A}">
                    <a16:rowId xmlns:a16="http://schemas.microsoft.com/office/drawing/2014/main" val="3618546185"/>
                  </a:ext>
                </a:extLst>
              </a:tr>
              <a:tr h="3843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 ASPECTOS GENERALES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b"/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b"/>
                </a:tc>
                <a:extLst>
                  <a:ext uri="{0D108BD9-81ED-4DB2-BD59-A6C34878D82A}">
                    <a16:rowId xmlns:a16="http://schemas.microsoft.com/office/drawing/2014/main" val="4250210535"/>
                  </a:ext>
                </a:extLst>
              </a:tr>
              <a:tr h="5701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2. CAPACIDAD INSTALADA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144804"/>
                  </a:ext>
                </a:extLst>
              </a:tr>
              <a:tr h="7407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3. SEGURIDAD, PROTECCIÓN Y BIENESTAR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444766"/>
                  </a:ext>
                </a:extLst>
              </a:tr>
              <a:tr h="7695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4. ORGANIZACIÓN ADMINISTRATIVA PARA LA DOCENCIA SERVICIO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95078"/>
                  </a:ext>
                </a:extLst>
              </a:tr>
              <a:tr h="3843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5. PRACTICAS FORMATIVAS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06015"/>
                  </a:ext>
                </a:extLst>
              </a:tr>
              <a:tr h="7695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6.  CULTURA DEL MEJORAMIENTO CONTINUO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699397"/>
                  </a:ext>
                </a:extLst>
              </a:tr>
            </a:tbl>
          </a:graphicData>
        </a:graphic>
      </p:graphicFrame>
      <p:sp>
        <p:nvSpPr>
          <p:cNvPr id="6" name="Rectángulo 5"/>
          <p:cNvSpPr/>
          <p:nvPr/>
        </p:nvSpPr>
        <p:spPr>
          <a:xfrm>
            <a:off x="6836751" y="628456"/>
            <a:ext cx="50305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OBSERVACIONES DE LA EVALUACIÓN</a:t>
            </a:r>
          </a:p>
        </p:txBody>
      </p:sp>
    </p:spTree>
    <p:extLst>
      <p:ext uri="{BB962C8B-B14F-4D97-AF65-F5344CB8AC3E}">
        <p14:creationId xmlns:p14="http://schemas.microsoft.com/office/powerpoint/2010/main" val="3673127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sz="quarter" idx="10"/>
          </p:nvPr>
        </p:nvSpPr>
        <p:spPr>
          <a:xfrm>
            <a:off x="693820" y="950038"/>
            <a:ext cx="10278980" cy="892059"/>
          </a:xfrm>
        </p:spPr>
        <p:txBody>
          <a:bodyPr/>
          <a:lstStyle/>
          <a:p>
            <a:r>
              <a:rPr lang="es-CO" sz="2400" dirty="0"/>
              <a:t>Docentes al escenario de práctica</a:t>
            </a:r>
          </a:p>
        </p:txBody>
      </p:sp>
      <p:graphicFrame>
        <p:nvGraphicFramePr>
          <p:cNvPr id="6" name="Marcador de contenido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4480493"/>
              </p:ext>
            </p:extLst>
          </p:nvPr>
        </p:nvGraphicFramePr>
        <p:xfrm>
          <a:off x="902825" y="2009617"/>
          <a:ext cx="10220446" cy="4325332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4255221">
                  <a:extLst>
                    <a:ext uri="{9D8B030D-6E8A-4147-A177-3AD203B41FA5}">
                      <a16:colId xmlns:a16="http://schemas.microsoft.com/office/drawing/2014/main" val="3731201715"/>
                    </a:ext>
                  </a:extLst>
                </a:gridCol>
                <a:gridCol w="1953292">
                  <a:extLst>
                    <a:ext uri="{9D8B030D-6E8A-4147-A177-3AD203B41FA5}">
                      <a16:colId xmlns:a16="http://schemas.microsoft.com/office/drawing/2014/main" val="2321214819"/>
                    </a:ext>
                  </a:extLst>
                </a:gridCol>
                <a:gridCol w="1872391">
                  <a:extLst>
                    <a:ext uri="{9D8B030D-6E8A-4147-A177-3AD203B41FA5}">
                      <a16:colId xmlns:a16="http://schemas.microsoft.com/office/drawing/2014/main" val="2136967414"/>
                    </a:ext>
                  </a:extLst>
                </a:gridCol>
                <a:gridCol w="2139542">
                  <a:extLst>
                    <a:ext uri="{9D8B030D-6E8A-4147-A177-3AD203B41FA5}">
                      <a16:colId xmlns:a16="http://schemas.microsoft.com/office/drawing/2014/main" val="2016555865"/>
                    </a:ext>
                  </a:extLst>
                </a:gridCol>
              </a:tblGrid>
              <a:tr h="7066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CONDICIONES DE CALIDAD DE LA RDS  EVALUADAS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FORTALEZAS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DIFICULTADES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SUGERENCIAS PARA MEJORAR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extLst>
                  <a:ext uri="{0D108BD9-81ED-4DB2-BD59-A6C34878D82A}">
                    <a16:rowId xmlns:a16="http://schemas.microsoft.com/office/drawing/2014/main" val="3618546185"/>
                  </a:ext>
                </a:extLst>
              </a:tr>
              <a:tr h="3843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 ASPECTOS GENERALES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b"/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b"/>
                </a:tc>
                <a:extLst>
                  <a:ext uri="{0D108BD9-81ED-4DB2-BD59-A6C34878D82A}">
                    <a16:rowId xmlns:a16="http://schemas.microsoft.com/office/drawing/2014/main" val="4250210535"/>
                  </a:ext>
                </a:extLst>
              </a:tr>
              <a:tr h="5701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2. CAPACIDAD INSTALADA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144804"/>
                  </a:ext>
                </a:extLst>
              </a:tr>
              <a:tr h="7407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3. SEGURIDAD, PROTECCIÓN Y BIENESTAR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444766"/>
                  </a:ext>
                </a:extLst>
              </a:tr>
              <a:tr h="7695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4. ORGANIZACIÓN ADMINISTRATIVA PARA LA DOCENCIA SERVICIO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95078"/>
                  </a:ext>
                </a:extLst>
              </a:tr>
              <a:tr h="3843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5. PRACTICAS FORMATIVAS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06015"/>
                  </a:ext>
                </a:extLst>
              </a:tr>
              <a:tr h="7695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6.  CULTURA DEL MEJORAMIENTO CONTINUO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29417" marR="29417" marT="7608" marB="0" anchor="ctr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699397"/>
                  </a:ext>
                </a:extLst>
              </a:tr>
            </a:tbl>
          </a:graphicData>
        </a:graphic>
      </p:graphicFrame>
      <p:sp>
        <p:nvSpPr>
          <p:cNvPr id="7" name="Rectángulo 6"/>
          <p:cNvSpPr/>
          <p:nvPr/>
        </p:nvSpPr>
        <p:spPr>
          <a:xfrm>
            <a:off x="6663131" y="466168"/>
            <a:ext cx="50305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OBSERVACIONES DE LA EVALUACIÓN</a:t>
            </a:r>
          </a:p>
        </p:txBody>
      </p:sp>
    </p:spTree>
    <p:extLst>
      <p:ext uri="{BB962C8B-B14F-4D97-AF65-F5344CB8AC3E}">
        <p14:creationId xmlns:p14="http://schemas.microsoft.com/office/powerpoint/2010/main" val="2602513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OPORTUNIDADES DE MEJORA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67677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609272"/>
      </p:ext>
    </p:extLst>
  </p:cSld>
  <p:clrMapOvr>
    <a:masterClrMapping/>
  </p:clrMapOvr>
</p:sld>
</file>

<file path=ppt/theme/theme1.xml><?xml version="1.0" encoding="utf-8"?>
<a:theme xmlns:a="http://schemas.openxmlformats.org/drawingml/2006/main" name="5629 tema udes">
  <a:themeElements>
    <a:clrScheme name="Personalizados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7AA89"/>
      </a:accent2>
      <a:accent3>
        <a:srgbClr val="A5A5A5"/>
      </a:accent3>
      <a:accent4>
        <a:srgbClr val="FFC000"/>
      </a:accent4>
      <a:accent5>
        <a:srgbClr val="5B9BD5"/>
      </a:accent5>
      <a:accent6>
        <a:srgbClr val="00479B"/>
      </a:accent6>
      <a:hlink>
        <a:srgbClr val="0563C1"/>
      </a:hlink>
      <a:folHlink>
        <a:srgbClr val="000F91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sin linea" id="{4A4C8FB0-598C-C143-B4BC-AB086D801909}" vid="{9780A9B5-80D2-D447-A69D-77E067145CBB}"/>
    </a:ext>
  </a:extLst>
</a:theme>
</file>

<file path=ppt/theme/theme2.xml><?xml version="1.0" encoding="utf-8"?>
<a:theme xmlns:a="http://schemas.openxmlformats.org/drawingml/2006/main" name="1_5629 tema udes">
  <a:themeElements>
    <a:clrScheme name="Personalizados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7AA89"/>
      </a:accent2>
      <a:accent3>
        <a:srgbClr val="A5A5A5"/>
      </a:accent3>
      <a:accent4>
        <a:srgbClr val="FFC000"/>
      </a:accent4>
      <a:accent5>
        <a:srgbClr val="5B9BD5"/>
      </a:accent5>
      <a:accent6>
        <a:srgbClr val="00479B"/>
      </a:accent6>
      <a:hlink>
        <a:srgbClr val="0563C1"/>
      </a:hlink>
      <a:folHlink>
        <a:srgbClr val="000F91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sin linea" id="{4A4C8FB0-598C-C143-B4BC-AB086D801909}" vid="{9780A9B5-80D2-D447-A69D-77E067145CBB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706e4e7-751c-4df5-88e3-bb755d30108e" xsi:nil="true"/>
    <lcf76f155ced4ddcb4097134ff3c332f xmlns="4d20c312-23be-4daf-9504-46e02e57eca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FDE090B1C4EA345930140B56949FD62" ma:contentTypeVersion="11" ma:contentTypeDescription="Crear nuevo documento." ma:contentTypeScope="" ma:versionID="756e25fe9a5aac3e24ad797147885cbc">
  <xsd:schema xmlns:xsd="http://www.w3.org/2001/XMLSchema" xmlns:xs="http://www.w3.org/2001/XMLSchema" xmlns:p="http://schemas.microsoft.com/office/2006/metadata/properties" xmlns:ns2="4d20c312-23be-4daf-9504-46e02e57eca1" xmlns:ns3="7706e4e7-751c-4df5-88e3-bb755d30108e" targetNamespace="http://schemas.microsoft.com/office/2006/metadata/properties" ma:root="true" ma:fieldsID="d5e43a3aaf4461ce19886584aca4e19b" ns2:_="" ns3:_="">
    <xsd:import namespace="4d20c312-23be-4daf-9504-46e02e57eca1"/>
    <xsd:import namespace="7706e4e7-751c-4df5-88e3-bb755d30108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20c312-23be-4daf-9504-46e02e57eca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Etiquetas de imagen" ma:readOnly="false" ma:fieldId="{5cf76f15-5ced-4ddc-b409-7134ff3c332f}" ma:taxonomyMulti="true" ma:sspId="5cd80423-a865-4216-8bbb-05aca56b21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06e4e7-751c-4df5-88e3-bb755d30108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0c81131b-00a7-4244-bbd5-ebac760135b6}" ma:internalName="TaxCatchAll" ma:showField="CatchAllData" ma:web="7706e4e7-751c-4df5-88e3-bb755d3010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C504B5-607B-41FD-8C09-E997BD352BED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7706e4e7-751c-4df5-88e3-bb755d30108e"/>
    <ds:schemaRef ds:uri="4d20c312-23be-4daf-9504-46e02e57eca1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DF055D2-11A7-4C92-8D9B-964D4FF58B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A21CD18-37F2-48F5-8DEC-3B7FB77568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20c312-23be-4daf-9504-46e02e57eca1"/>
    <ds:schemaRef ds:uri="7706e4e7-751c-4df5-88e3-bb755d3010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5629 tema udes</Template>
  <TotalTime>1019</TotalTime>
  <Words>266</Words>
  <Application>Microsoft Office PowerPoint</Application>
  <PresentationFormat>Panorámica</PresentationFormat>
  <Paragraphs>67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Tahoma</vt:lpstr>
      <vt:lpstr>5629 tema udes</vt:lpstr>
      <vt:lpstr>1_5629 tema udes</vt:lpstr>
      <vt:lpstr>Presentación de PowerPoint</vt:lpstr>
      <vt:lpstr>INFORME DE AUTOEVALUACIÓN PRACTICAS FORMATIVAS </vt:lpstr>
      <vt:lpstr>ESTUDIANTES</vt:lpstr>
      <vt:lpstr>Presentación de PowerPoint</vt:lpstr>
      <vt:lpstr>Presentación de PowerPoint</vt:lpstr>
      <vt:lpstr>MODELO DE AUTOEVALUACIÓN DE LA RELACIÓN DOCENCIA SERVICIO (ACUERDO 00273 DE 2021) </vt:lpstr>
      <vt:lpstr>EVALUACIÓN DE LA RELACIÓN DOCENCIA SERVICIO (RESULTADOS GLOBALES DEL PROGRAMA EN EL ESCENARIO)</vt:lpstr>
      <vt:lpstr>OBSERVACIONES DE LA EVALUACIÓN</vt:lpstr>
      <vt:lpstr>Presentación de PowerPoint</vt:lpstr>
      <vt:lpstr>Presentación de PowerPoint</vt:lpstr>
      <vt:lpstr>OPORTUNIDADES DE MEJORA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Diseñadora Imprenta 1</dc:creator>
  <cp:lastModifiedBy>Yamile Guerra</cp:lastModifiedBy>
  <cp:revision>49</cp:revision>
  <dcterms:created xsi:type="dcterms:W3CDTF">2023-11-28T15:08:18Z</dcterms:created>
  <dcterms:modified xsi:type="dcterms:W3CDTF">2026-05-28T23:16:55Z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0x0101002FDE090B1C4EA345930140B56949FD62</vt:lpwstr>
  </property>
</Properties>
</file>