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83" r:id="rId5"/>
  </p:sldMasterIdLst>
  <p:notesMasterIdLst>
    <p:notesMasterId r:id="rId18"/>
  </p:notesMasterIdLst>
  <p:sldIdLst>
    <p:sldId id="263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2" r:id="rId15"/>
    <p:sldId id="343" r:id="rId16"/>
    <p:sldId id="266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cencia Servicio" initials="DS" lastIdx="1" clrIdx="0">
    <p:extLst>
      <p:ext uri="{19B8F6BF-5375-455C-9EA6-DF929625EA0E}">
        <p15:presenceInfo xmlns:p15="http://schemas.microsoft.com/office/powerpoint/2012/main" userId="S-1-5-21-3822281196-3131016781-929717536-92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32"/>
    <p:restoredTop sz="96311"/>
  </p:normalViewPr>
  <p:slideViewPr>
    <p:cSldViewPr snapToGrid="0">
      <p:cViewPr varScale="1">
        <p:scale>
          <a:sx n="69" d="100"/>
          <a:sy n="69" d="100"/>
        </p:scale>
        <p:origin x="11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5949D6-210C-4FE7-ACA8-FFD573A8EB06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74F66D76-3738-4B4C-8F0C-EF71F6BB1342}">
      <dgm:prSet phldrT="[Texto]"/>
      <dgm:spPr/>
      <dgm:t>
        <a:bodyPr/>
        <a:lstStyle/>
        <a:p>
          <a:r>
            <a:rPr lang="es-CO" dirty="0" smtClean="0"/>
            <a:t>Medicina Interna</a:t>
          </a:r>
          <a:endParaRPr lang="es-CO" dirty="0"/>
        </a:p>
      </dgm:t>
    </dgm:pt>
    <dgm:pt modelId="{8F589ED2-9323-4C5B-93AF-7CED7825D6C9}" type="parTrans" cxnId="{5A8BD66F-F0E3-40AE-9806-B7610FBE2E8F}">
      <dgm:prSet/>
      <dgm:spPr/>
      <dgm:t>
        <a:bodyPr/>
        <a:lstStyle/>
        <a:p>
          <a:endParaRPr lang="es-CO"/>
        </a:p>
      </dgm:t>
    </dgm:pt>
    <dgm:pt modelId="{A2DAEC34-E477-4558-B38A-273E53FF624B}" type="sibTrans" cxnId="{5A8BD66F-F0E3-40AE-9806-B7610FBE2E8F}">
      <dgm:prSet/>
      <dgm:spPr/>
      <dgm:t>
        <a:bodyPr/>
        <a:lstStyle/>
        <a:p>
          <a:endParaRPr lang="es-CO"/>
        </a:p>
      </dgm:t>
    </dgm:pt>
    <dgm:pt modelId="{34970057-A89A-4E36-90FC-1C4515734AB2}">
      <dgm:prSet phldrT="[Texto]" custT="1"/>
      <dgm:spPr/>
      <dgm:t>
        <a:bodyPr/>
        <a:lstStyle/>
        <a:p>
          <a:r>
            <a:rPr lang="es-CO" sz="3000" dirty="0" smtClean="0"/>
            <a:t>3 grupos de 5 estudiantes</a:t>
          </a:r>
          <a:endParaRPr lang="es-CO" sz="3000" dirty="0"/>
        </a:p>
      </dgm:t>
    </dgm:pt>
    <dgm:pt modelId="{6C0181F0-6F52-4905-AF8C-71C7873A9D89}" type="parTrans" cxnId="{C1CD5C90-EB1F-4502-8D4A-95D8F3D6D232}">
      <dgm:prSet/>
      <dgm:spPr/>
      <dgm:t>
        <a:bodyPr/>
        <a:lstStyle/>
        <a:p>
          <a:endParaRPr lang="es-CO"/>
        </a:p>
      </dgm:t>
    </dgm:pt>
    <dgm:pt modelId="{C2AE3AFF-71FB-4359-A9C4-E2E37C2AEB59}" type="sibTrans" cxnId="{C1CD5C90-EB1F-4502-8D4A-95D8F3D6D232}">
      <dgm:prSet/>
      <dgm:spPr/>
      <dgm:t>
        <a:bodyPr/>
        <a:lstStyle/>
        <a:p>
          <a:endParaRPr lang="es-CO"/>
        </a:p>
      </dgm:t>
    </dgm:pt>
    <dgm:pt modelId="{1DCF3DF1-7D00-40D4-ADD3-2C5DA6988902}">
      <dgm:prSet phldrT="[Texto]"/>
      <dgm:spPr/>
      <dgm:t>
        <a:bodyPr/>
        <a:lstStyle/>
        <a:p>
          <a:r>
            <a:rPr lang="es-CO" dirty="0" smtClean="0"/>
            <a:t>Cirugía</a:t>
          </a:r>
          <a:endParaRPr lang="es-CO" dirty="0"/>
        </a:p>
      </dgm:t>
    </dgm:pt>
    <dgm:pt modelId="{AFBA8AA5-9F37-4661-9B1F-E7475BDAEFB1}" type="parTrans" cxnId="{A2386D97-92E0-4DB1-BB6C-A3BF3D294BE4}">
      <dgm:prSet/>
      <dgm:spPr/>
      <dgm:t>
        <a:bodyPr/>
        <a:lstStyle/>
        <a:p>
          <a:endParaRPr lang="es-CO"/>
        </a:p>
      </dgm:t>
    </dgm:pt>
    <dgm:pt modelId="{1C75E628-96EC-473A-8535-E00AFE0CFECF}" type="sibTrans" cxnId="{A2386D97-92E0-4DB1-BB6C-A3BF3D294BE4}">
      <dgm:prSet/>
      <dgm:spPr/>
      <dgm:t>
        <a:bodyPr/>
        <a:lstStyle/>
        <a:p>
          <a:endParaRPr lang="es-CO"/>
        </a:p>
      </dgm:t>
    </dgm:pt>
    <dgm:pt modelId="{7BD9C82E-C6B4-46E4-A229-75C6EE28EBAE}">
      <dgm:prSet phldrT="[Texto]" custT="1"/>
      <dgm:spPr/>
      <dgm:t>
        <a:bodyPr/>
        <a:lstStyle/>
        <a:p>
          <a:r>
            <a:rPr lang="es-CO" sz="3000" dirty="0" smtClean="0"/>
            <a:t>2 grupos de 4 estudiantes</a:t>
          </a:r>
          <a:endParaRPr lang="es-CO" sz="3000" dirty="0"/>
        </a:p>
      </dgm:t>
    </dgm:pt>
    <dgm:pt modelId="{43502FA9-B4DF-40AD-8447-F3CE5D3BEDE1}" type="parTrans" cxnId="{7E40821D-5184-4D66-AF42-BC28B3D14D33}">
      <dgm:prSet/>
      <dgm:spPr/>
      <dgm:t>
        <a:bodyPr/>
        <a:lstStyle/>
        <a:p>
          <a:endParaRPr lang="es-CO"/>
        </a:p>
      </dgm:t>
    </dgm:pt>
    <dgm:pt modelId="{A436AD07-6FBE-4347-A37E-7E2DEE05F207}" type="sibTrans" cxnId="{7E40821D-5184-4D66-AF42-BC28B3D14D33}">
      <dgm:prSet/>
      <dgm:spPr/>
      <dgm:t>
        <a:bodyPr/>
        <a:lstStyle/>
        <a:p>
          <a:endParaRPr lang="es-CO"/>
        </a:p>
      </dgm:t>
    </dgm:pt>
    <dgm:pt modelId="{B3F0E9EF-47DB-419D-9651-8B9EDC08C191}">
      <dgm:prSet phldrT="[Texto]"/>
      <dgm:spPr/>
      <dgm:t>
        <a:bodyPr/>
        <a:lstStyle/>
        <a:p>
          <a:r>
            <a:rPr lang="es-CO" dirty="0" smtClean="0"/>
            <a:t>Ginecología y Obstetricia</a:t>
          </a:r>
          <a:endParaRPr lang="es-CO" dirty="0"/>
        </a:p>
      </dgm:t>
    </dgm:pt>
    <dgm:pt modelId="{0A103ACD-AD78-4221-9CE9-25A931E9E8B5}" type="parTrans" cxnId="{C7C3B92A-7A01-46C6-81EE-9826A188C432}">
      <dgm:prSet/>
      <dgm:spPr/>
      <dgm:t>
        <a:bodyPr/>
        <a:lstStyle/>
        <a:p>
          <a:endParaRPr lang="es-CO"/>
        </a:p>
      </dgm:t>
    </dgm:pt>
    <dgm:pt modelId="{AB9CD8DA-27CC-4342-8364-5EB039CEFED4}" type="sibTrans" cxnId="{C7C3B92A-7A01-46C6-81EE-9826A188C432}">
      <dgm:prSet/>
      <dgm:spPr/>
      <dgm:t>
        <a:bodyPr/>
        <a:lstStyle/>
        <a:p>
          <a:endParaRPr lang="es-CO"/>
        </a:p>
      </dgm:t>
    </dgm:pt>
    <dgm:pt modelId="{8F773064-F252-4AA4-B4D1-B88520A72B13}">
      <dgm:prSet phldrT="[Texto]" custT="1"/>
      <dgm:spPr/>
      <dgm:t>
        <a:bodyPr/>
        <a:lstStyle/>
        <a:p>
          <a:pPr algn="ctr"/>
          <a:r>
            <a:rPr lang="es-CO" sz="3000" dirty="0" smtClean="0"/>
            <a:t>2 grupos de 5 estudiantes</a:t>
          </a:r>
          <a:endParaRPr lang="es-CO" sz="3000" dirty="0"/>
        </a:p>
      </dgm:t>
    </dgm:pt>
    <dgm:pt modelId="{BD7419A5-04F2-4322-B720-C3CC6564009B}" type="parTrans" cxnId="{53D01235-6173-4246-A1B4-BA2C2D60561D}">
      <dgm:prSet/>
      <dgm:spPr/>
      <dgm:t>
        <a:bodyPr/>
        <a:lstStyle/>
        <a:p>
          <a:endParaRPr lang="es-CO"/>
        </a:p>
      </dgm:t>
    </dgm:pt>
    <dgm:pt modelId="{A1E98B8E-5CBB-40DA-8EC7-ECF234D74C2A}" type="sibTrans" cxnId="{53D01235-6173-4246-A1B4-BA2C2D60561D}">
      <dgm:prSet/>
      <dgm:spPr/>
      <dgm:t>
        <a:bodyPr/>
        <a:lstStyle/>
        <a:p>
          <a:endParaRPr lang="es-CO"/>
        </a:p>
      </dgm:t>
    </dgm:pt>
    <dgm:pt modelId="{4CAACB69-F733-46D8-9925-2FBA2FC0DDC3}">
      <dgm:prSet phldrT="[Texto]" custT="1"/>
      <dgm:spPr/>
      <dgm:t>
        <a:bodyPr/>
        <a:lstStyle/>
        <a:p>
          <a:endParaRPr lang="es-CO" sz="3000" dirty="0"/>
        </a:p>
      </dgm:t>
    </dgm:pt>
    <dgm:pt modelId="{841F796B-FB51-46C5-A464-D29DD3F99268}" type="parTrans" cxnId="{75429A4D-CDA7-4522-A3CE-703F0A8EAFA0}">
      <dgm:prSet/>
      <dgm:spPr/>
      <dgm:t>
        <a:bodyPr/>
        <a:lstStyle/>
        <a:p>
          <a:endParaRPr lang="es-CO"/>
        </a:p>
      </dgm:t>
    </dgm:pt>
    <dgm:pt modelId="{9DBD942B-EA21-4B54-BA06-3E15953156A5}" type="sibTrans" cxnId="{75429A4D-CDA7-4522-A3CE-703F0A8EAFA0}">
      <dgm:prSet/>
      <dgm:spPr/>
      <dgm:t>
        <a:bodyPr/>
        <a:lstStyle/>
        <a:p>
          <a:endParaRPr lang="es-CO"/>
        </a:p>
      </dgm:t>
    </dgm:pt>
    <dgm:pt modelId="{5A5E0841-2A7A-4E89-9AEC-79FD29DA7BB9}">
      <dgm:prSet phldrT="[Texto]" custT="1"/>
      <dgm:spPr/>
      <dgm:t>
        <a:bodyPr/>
        <a:lstStyle/>
        <a:p>
          <a:pPr algn="ctr"/>
          <a:endParaRPr lang="es-CO" sz="3000" dirty="0"/>
        </a:p>
      </dgm:t>
    </dgm:pt>
    <dgm:pt modelId="{D68982DA-8F0D-4BCA-BE8D-C79AE5A37F99}" type="parTrans" cxnId="{B839A7A1-8FEB-4EB7-8628-26E36CD47C18}">
      <dgm:prSet/>
      <dgm:spPr/>
      <dgm:t>
        <a:bodyPr/>
        <a:lstStyle/>
        <a:p>
          <a:endParaRPr lang="es-CO"/>
        </a:p>
      </dgm:t>
    </dgm:pt>
    <dgm:pt modelId="{D0C098D4-029B-4567-BEBE-0D0123B379B3}" type="sibTrans" cxnId="{B839A7A1-8FEB-4EB7-8628-26E36CD47C18}">
      <dgm:prSet/>
      <dgm:spPr/>
      <dgm:t>
        <a:bodyPr/>
        <a:lstStyle/>
        <a:p>
          <a:endParaRPr lang="es-CO"/>
        </a:p>
      </dgm:t>
    </dgm:pt>
    <dgm:pt modelId="{D2EDCCBE-A524-4420-AE8F-917A7278533A}" type="pres">
      <dgm:prSet presAssocID="{425949D6-210C-4FE7-ACA8-FFD573A8EB0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7C1607CC-09B3-4EF4-A6CE-3D4F18DC7210}" type="pres">
      <dgm:prSet presAssocID="{425949D6-210C-4FE7-ACA8-FFD573A8EB06}" presName="tSp" presStyleCnt="0"/>
      <dgm:spPr/>
    </dgm:pt>
    <dgm:pt modelId="{9F2BC0D5-79B6-4379-87EB-0DA869D5F5E3}" type="pres">
      <dgm:prSet presAssocID="{425949D6-210C-4FE7-ACA8-FFD573A8EB06}" presName="bSp" presStyleCnt="0"/>
      <dgm:spPr/>
    </dgm:pt>
    <dgm:pt modelId="{34211FE0-44AA-4FD5-9580-849E23BB57E6}" type="pres">
      <dgm:prSet presAssocID="{425949D6-210C-4FE7-ACA8-FFD573A8EB06}" presName="process" presStyleCnt="0"/>
      <dgm:spPr/>
    </dgm:pt>
    <dgm:pt modelId="{85B056D5-3D9F-4D2A-BB7C-F2E96DB820B7}" type="pres">
      <dgm:prSet presAssocID="{74F66D76-3738-4B4C-8F0C-EF71F6BB1342}" presName="composite1" presStyleCnt="0"/>
      <dgm:spPr/>
    </dgm:pt>
    <dgm:pt modelId="{1DBDF2FE-4547-4531-B782-2B0D03881316}" type="pres">
      <dgm:prSet presAssocID="{74F66D76-3738-4B4C-8F0C-EF71F6BB1342}" presName="dummyNode1" presStyleLbl="node1" presStyleIdx="0" presStyleCnt="3"/>
      <dgm:spPr/>
    </dgm:pt>
    <dgm:pt modelId="{39DB190C-5BF0-45A8-9CD2-5ADDB6000937}" type="pres">
      <dgm:prSet presAssocID="{74F66D76-3738-4B4C-8F0C-EF71F6BB1342}" presName="childNode1" presStyleLbl="bgAcc1" presStyleIdx="0" presStyleCnt="3" custScaleX="118021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ECC25AD0-B5F8-4DA0-9947-1EC872E8DB94}" type="pres">
      <dgm:prSet presAssocID="{74F66D76-3738-4B4C-8F0C-EF71F6BB1342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085F7E59-0517-402F-83C5-00CF081F0F75}" type="pres">
      <dgm:prSet presAssocID="{74F66D76-3738-4B4C-8F0C-EF71F6BB1342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B8C7A7FE-51C0-422C-9352-80B2AFFF7411}" type="pres">
      <dgm:prSet presAssocID="{74F66D76-3738-4B4C-8F0C-EF71F6BB1342}" presName="connSite1" presStyleCnt="0"/>
      <dgm:spPr/>
    </dgm:pt>
    <dgm:pt modelId="{4781C67B-0FCA-412B-9E36-042EC0CCE1F7}" type="pres">
      <dgm:prSet presAssocID="{A2DAEC34-E477-4558-B38A-273E53FF624B}" presName="Name9" presStyleLbl="sibTrans2D1" presStyleIdx="0" presStyleCnt="2"/>
      <dgm:spPr/>
      <dgm:t>
        <a:bodyPr/>
        <a:lstStyle/>
        <a:p>
          <a:endParaRPr lang="es-CO"/>
        </a:p>
      </dgm:t>
    </dgm:pt>
    <dgm:pt modelId="{A45B4C10-064C-4040-9EDF-463A02ACF758}" type="pres">
      <dgm:prSet presAssocID="{1DCF3DF1-7D00-40D4-ADD3-2C5DA6988902}" presName="composite2" presStyleCnt="0"/>
      <dgm:spPr/>
    </dgm:pt>
    <dgm:pt modelId="{50A40F7F-4375-4395-96D7-FA07E8F81C29}" type="pres">
      <dgm:prSet presAssocID="{1DCF3DF1-7D00-40D4-ADD3-2C5DA6988902}" presName="dummyNode2" presStyleLbl="node1" presStyleIdx="0" presStyleCnt="3"/>
      <dgm:spPr/>
    </dgm:pt>
    <dgm:pt modelId="{717A6ABD-D343-4745-A2A4-BB4F5EA0A2D5}" type="pres">
      <dgm:prSet presAssocID="{1DCF3DF1-7D00-40D4-ADD3-2C5DA6988902}" presName="childNode2" presStyleLbl="bgAcc1" presStyleIdx="1" presStyleCnt="3" custScaleX="122020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3B32DF49-B48E-4DB7-8491-B6C9B7E6E51F}" type="pres">
      <dgm:prSet presAssocID="{1DCF3DF1-7D00-40D4-ADD3-2C5DA6988902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E4C1F7E2-5F6C-425D-B3D8-83F55C9482CE}" type="pres">
      <dgm:prSet presAssocID="{1DCF3DF1-7D00-40D4-ADD3-2C5DA6988902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E3938DAA-3197-4911-8FEC-E2689846F868}" type="pres">
      <dgm:prSet presAssocID="{1DCF3DF1-7D00-40D4-ADD3-2C5DA6988902}" presName="connSite2" presStyleCnt="0"/>
      <dgm:spPr/>
    </dgm:pt>
    <dgm:pt modelId="{83DB9A61-2518-4152-9BC2-A84F9D749F98}" type="pres">
      <dgm:prSet presAssocID="{1C75E628-96EC-473A-8535-E00AFE0CFECF}" presName="Name18" presStyleLbl="sibTrans2D1" presStyleIdx="1" presStyleCnt="2"/>
      <dgm:spPr/>
      <dgm:t>
        <a:bodyPr/>
        <a:lstStyle/>
        <a:p>
          <a:endParaRPr lang="es-CO"/>
        </a:p>
      </dgm:t>
    </dgm:pt>
    <dgm:pt modelId="{2A92BD69-CE3B-4AF7-A108-281C0EDBB3C7}" type="pres">
      <dgm:prSet presAssocID="{B3F0E9EF-47DB-419D-9651-8B9EDC08C191}" presName="composite1" presStyleCnt="0"/>
      <dgm:spPr/>
    </dgm:pt>
    <dgm:pt modelId="{5B9BE1CA-B73C-40F5-964F-9851C0BCAB9D}" type="pres">
      <dgm:prSet presAssocID="{B3F0E9EF-47DB-419D-9651-8B9EDC08C191}" presName="dummyNode1" presStyleLbl="node1" presStyleIdx="1" presStyleCnt="3"/>
      <dgm:spPr/>
    </dgm:pt>
    <dgm:pt modelId="{03720FF1-0AF4-4AE1-B720-3ACEFFA10A1F}" type="pres">
      <dgm:prSet presAssocID="{B3F0E9EF-47DB-419D-9651-8B9EDC08C191}" presName="childNode1" presStyleLbl="bgAcc1" presStyleIdx="2" presStyleCnt="3" custScaleX="121140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2A48D567-5714-4569-8EC1-E1F07A81FFC0}" type="pres">
      <dgm:prSet presAssocID="{B3F0E9EF-47DB-419D-9651-8B9EDC08C191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5329A9E6-0AAC-421F-AE75-E1F226CAA004}" type="pres">
      <dgm:prSet presAssocID="{B3F0E9EF-47DB-419D-9651-8B9EDC08C191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BA71B1C6-CB1B-4668-AD67-B31EDF7FDDAA}" type="pres">
      <dgm:prSet presAssocID="{B3F0E9EF-47DB-419D-9651-8B9EDC08C191}" presName="connSite1" presStyleCnt="0"/>
      <dgm:spPr/>
    </dgm:pt>
  </dgm:ptLst>
  <dgm:cxnLst>
    <dgm:cxn modelId="{05560C02-22A9-4D96-8F6E-5418F27E6DAF}" type="presOf" srcId="{A2DAEC34-E477-4558-B38A-273E53FF624B}" destId="{4781C67B-0FCA-412B-9E36-042EC0CCE1F7}" srcOrd="0" destOrd="0" presId="urn:microsoft.com/office/officeart/2005/8/layout/hProcess4"/>
    <dgm:cxn modelId="{C1CD5C90-EB1F-4502-8D4A-95D8F3D6D232}" srcId="{74F66D76-3738-4B4C-8F0C-EF71F6BB1342}" destId="{34970057-A89A-4E36-90FC-1C4515734AB2}" srcOrd="1" destOrd="0" parTransId="{6C0181F0-6F52-4905-AF8C-71C7873A9D89}" sibTransId="{C2AE3AFF-71FB-4359-A9C4-E2E37C2AEB59}"/>
    <dgm:cxn modelId="{37EC9BEA-BA84-4928-A028-451AE4F4BE85}" type="presOf" srcId="{1C75E628-96EC-473A-8535-E00AFE0CFECF}" destId="{83DB9A61-2518-4152-9BC2-A84F9D749F98}" srcOrd="0" destOrd="0" presId="urn:microsoft.com/office/officeart/2005/8/layout/hProcess4"/>
    <dgm:cxn modelId="{B839A7A1-8FEB-4EB7-8628-26E36CD47C18}" srcId="{B3F0E9EF-47DB-419D-9651-8B9EDC08C191}" destId="{5A5E0841-2A7A-4E89-9AEC-79FD29DA7BB9}" srcOrd="0" destOrd="0" parTransId="{D68982DA-8F0D-4BCA-BE8D-C79AE5A37F99}" sibTransId="{D0C098D4-029B-4567-BEBE-0D0123B379B3}"/>
    <dgm:cxn modelId="{A0419404-6A50-40D3-88B1-E557C1788593}" type="presOf" srcId="{425949D6-210C-4FE7-ACA8-FFD573A8EB06}" destId="{D2EDCCBE-A524-4420-AE8F-917A7278533A}" srcOrd="0" destOrd="0" presId="urn:microsoft.com/office/officeart/2005/8/layout/hProcess4"/>
    <dgm:cxn modelId="{53D01235-6173-4246-A1B4-BA2C2D60561D}" srcId="{B3F0E9EF-47DB-419D-9651-8B9EDC08C191}" destId="{8F773064-F252-4AA4-B4D1-B88520A72B13}" srcOrd="1" destOrd="0" parTransId="{BD7419A5-04F2-4322-B720-C3CC6564009B}" sibTransId="{A1E98B8E-5CBB-40DA-8EC7-ECF234D74C2A}"/>
    <dgm:cxn modelId="{3AA06C36-8B96-4759-BABA-9B14DE71925A}" type="presOf" srcId="{8F773064-F252-4AA4-B4D1-B88520A72B13}" destId="{03720FF1-0AF4-4AE1-B720-3ACEFFA10A1F}" srcOrd="0" destOrd="1" presId="urn:microsoft.com/office/officeart/2005/8/layout/hProcess4"/>
    <dgm:cxn modelId="{90C33061-7470-41E7-ABAF-FA6E21B04DBE}" type="presOf" srcId="{B3F0E9EF-47DB-419D-9651-8B9EDC08C191}" destId="{5329A9E6-0AAC-421F-AE75-E1F226CAA004}" srcOrd="0" destOrd="0" presId="urn:microsoft.com/office/officeart/2005/8/layout/hProcess4"/>
    <dgm:cxn modelId="{AFD1FF07-C244-4086-8E0B-4C9202EA236C}" type="presOf" srcId="{74F66D76-3738-4B4C-8F0C-EF71F6BB1342}" destId="{085F7E59-0517-402F-83C5-00CF081F0F75}" srcOrd="0" destOrd="0" presId="urn:microsoft.com/office/officeart/2005/8/layout/hProcess4"/>
    <dgm:cxn modelId="{2E84FB0C-C981-4BCB-8CC1-182A436A9BE4}" type="presOf" srcId="{34970057-A89A-4E36-90FC-1C4515734AB2}" destId="{ECC25AD0-B5F8-4DA0-9947-1EC872E8DB94}" srcOrd="1" destOrd="1" presId="urn:microsoft.com/office/officeart/2005/8/layout/hProcess4"/>
    <dgm:cxn modelId="{8769722C-E4D1-4B76-A64E-AA54C4A0D381}" type="presOf" srcId="{1DCF3DF1-7D00-40D4-ADD3-2C5DA6988902}" destId="{E4C1F7E2-5F6C-425D-B3D8-83F55C9482CE}" srcOrd="0" destOrd="0" presId="urn:microsoft.com/office/officeart/2005/8/layout/hProcess4"/>
    <dgm:cxn modelId="{7663555F-0ADE-43B9-AD9F-5F7149E10B07}" type="presOf" srcId="{4CAACB69-F733-46D8-9925-2FBA2FC0DDC3}" destId="{39DB190C-5BF0-45A8-9CD2-5ADDB6000937}" srcOrd="0" destOrd="0" presId="urn:microsoft.com/office/officeart/2005/8/layout/hProcess4"/>
    <dgm:cxn modelId="{B00F94F0-E7C6-4622-B134-BF5F6CACCB08}" type="presOf" srcId="{4CAACB69-F733-46D8-9925-2FBA2FC0DDC3}" destId="{ECC25AD0-B5F8-4DA0-9947-1EC872E8DB94}" srcOrd="1" destOrd="0" presId="urn:microsoft.com/office/officeart/2005/8/layout/hProcess4"/>
    <dgm:cxn modelId="{C7C3B92A-7A01-46C6-81EE-9826A188C432}" srcId="{425949D6-210C-4FE7-ACA8-FFD573A8EB06}" destId="{B3F0E9EF-47DB-419D-9651-8B9EDC08C191}" srcOrd="2" destOrd="0" parTransId="{0A103ACD-AD78-4221-9CE9-25A931E9E8B5}" sibTransId="{AB9CD8DA-27CC-4342-8364-5EB039CEFED4}"/>
    <dgm:cxn modelId="{5A8BD66F-F0E3-40AE-9806-B7610FBE2E8F}" srcId="{425949D6-210C-4FE7-ACA8-FFD573A8EB06}" destId="{74F66D76-3738-4B4C-8F0C-EF71F6BB1342}" srcOrd="0" destOrd="0" parTransId="{8F589ED2-9323-4C5B-93AF-7CED7825D6C9}" sibTransId="{A2DAEC34-E477-4558-B38A-273E53FF624B}"/>
    <dgm:cxn modelId="{2C646558-2F96-46E4-8720-0F2AB7994D3E}" type="presOf" srcId="{7BD9C82E-C6B4-46E4-A229-75C6EE28EBAE}" destId="{717A6ABD-D343-4745-A2A4-BB4F5EA0A2D5}" srcOrd="0" destOrd="0" presId="urn:microsoft.com/office/officeart/2005/8/layout/hProcess4"/>
    <dgm:cxn modelId="{1A3A4D15-2394-4AC4-84B4-F20E133D2159}" type="presOf" srcId="{5A5E0841-2A7A-4E89-9AEC-79FD29DA7BB9}" destId="{03720FF1-0AF4-4AE1-B720-3ACEFFA10A1F}" srcOrd="0" destOrd="0" presId="urn:microsoft.com/office/officeart/2005/8/layout/hProcess4"/>
    <dgm:cxn modelId="{75429A4D-CDA7-4522-A3CE-703F0A8EAFA0}" srcId="{74F66D76-3738-4B4C-8F0C-EF71F6BB1342}" destId="{4CAACB69-F733-46D8-9925-2FBA2FC0DDC3}" srcOrd="0" destOrd="0" parTransId="{841F796B-FB51-46C5-A464-D29DD3F99268}" sibTransId="{9DBD942B-EA21-4B54-BA06-3E15953156A5}"/>
    <dgm:cxn modelId="{90249FE8-FCB2-4E1C-9CB9-33916A301628}" type="presOf" srcId="{5A5E0841-2A7A-4E89-9AEC-79FD29DA7BB9}" destId="{2A48D567-5714-4569-8EC1-E1F07A81FFC0}" srcOrd="1" destOrd="0" presId="urn:microsoft.com/office/officeart/2005/8/layout/hProcess4"/>
    <dgm:cxn modelId="{7460BAA0-1780-461D-BA1B-3F4C2C7E8D79}" type="presOf" srcId="{8F773064-F252-4AA4-B4D1-B88520A72B13}" destId="{2A48D567-5714-4569-8EC1-E1F07A81FFC0}" srcOrd="1" destOrd="1" presId="urn:microsoft.com/office/officeart/2005/8/layout/hProcess4"/>
    <dgm:cxn modelId="{7E40821D-5184-4D66-AF42-BC28B3D14D33}" srcId="{1DCF3DF1-7D00-40D4-ADD3-2C5DA6988902}" destId="{7BD9C82E-C6B4-46E4-A229-75C6EE28EBAE}" srcOrd="0" destOrd="0" parTransId="{43502FA9-B4DF-40AD-8447-F3CE5D3BEDE1}" sibTransId="{A436AD07-6FBE-4347-A37E-7E2DEE05F207}"/>
    <dgm:cxn modelId="{A2386D97-92E0-4DB1-BB6C-A3BF3D294BE4}" srcId="{425949D6-210C-4FE7-ACA8-FFD573A8EB06}" destId="{1DCF3DF1-7D00-40D4-ADD3-2C5DA6988902}" srcOrd="1" destOrd="0" parTransId="{AFBA8AA5-9F37-4661-9B1F-E7475BDAEFB1}" sibTransId="{1C75E628-96EC-473A-8535-E00AFE0CFECF}"/>
    <dgm:cxn modelId="{9A996E49-9F3A-4580-8372-867724C310FD}" type="presOf" srcId="{34970057-A89A-4E36-90FC-1C4515734AB2}" destId="{39DB190C-5BF0-45A8-9CD2-5ADDB6000937}" srcOrd="0" destOrd="1" presId="urn:microsoft.com/office/officeart/2005/8/layout/hProcess4"/>
    <dgm:cxn modelId="{3B7CAC19-C723-4298-8E7C-08AA10BE8C43}" type="presOf" srcId="{7BD9C82E-C6B4-46E4-A229-75C6EE28EBAE}" destId="{3B32DF49-B48E-4DB7-8491-B6C9B7E6E51F}" srcOrd="1" destOrd="0" presId="urn:microsoft.com/office/officeart/2005/8/layout/hProcess4"/>
    <dgm:cxn modelId="{8CEF3EF7-A12D-4EC2-B5AC-D79211FBAC60}" type="presParOf" srcId="{D2EDCCBE-A524-4420-AE8F-917A7278533A}" destId="{7C1607CC-09B3-4EF4-A6CE-3D4F18DC7210}" srcOrd="0" destOrd="0" presId="urn:microsoft.com/office/officeart/2005/8/layout/hProcess4"/>
    <dgm:cxn modelId="{CDF0BF9A-C23F-4026-B11C-100DFE4654CA}" type="presParOf" srcId="{D2EDCCBE-A524-4420-AE8F-917A7278533A}" destId="{9F2BC0D5-79B6-4379-87EB-0DA869D5F5E3}" srcOrd="1" destOrd="0" presId="urn:microsoft.com/office/officeart/2005/8/layout/hProcess4"/>
    <dgm:cxn modelId="{6F5C4598-9273-41D4-845A-3D2BCB28C940}" type="presParOf" srcId="{D2EDCCBE-A524-4420-AE8F-917A7278533A}" destId="{34211FE0-44AA-4FD5-9580-849E23BB57E6}" srcOrd="2" destOrd="0" presId="urn:microsoft.com/office/officeart/2005/8/layout/hProcess4"/>
    <dgm:cxn modelId="{219B2D15-4281-4E79-BF0E-CAAA44AAB68B}" type="presParOf" srcId="{34211FE0-44AA-4FD5-9580-849E23BB57E6}" destId="{85B056D5-3D9F-4D2A-BB7C-F2E96DB820B7}" srcOrd="0" destOrd="0" presId="urn:microsoft.com/office/officeart/2005/8/layout/hProcess4"/>
    <dgm:cxn modelId="{0721BD92-B34B-452F-AADA-3516AA026CAB}" type="presParOf" srcId="{85B056D5-3D9F-4D2A-BB7C-F2E96DB820B7}" destId="{1DBDF2FE-4547-4531-B782-2B0D03881316}" srcOrd="0" destOrd="0" presId="urn:microsoft.com/office/officeart/2005/8/layout/hProcess4"/>
    <dgm:cxn modelId="{2791E269-98DE-46BB-A60C-3175849E9DED}" type="presParOf" srcId="{85B056D5-3D9F-4D2A-BB7C-F2E96DB820B7}" destId="{39DB190C-5BF0-45A8-9CD2-5ADDB6000937}" srcOrd="1" destOrd="0" presId="urn:microsoft.com/office/officeart/2005/8/layout/hProcess4"/>
    <dgm:cxn modelId="{BF6560DF-427C-4D72-8042-D53A7F2CC8B8}" type="presParOf" srcId="{85B056D5-3D9F-4D2A-BB7C-F2E96DB820B7}" destId="{ECC25AD0-B5F8-4DA0-9947-1EC872E8DB94}" srcOrd="2" destOrd="0" presId="urn:microsoft.com/office/officeart/2005/8/layout/hProcess4"/>
    <dgm:cxn modelId="{3D6E283B-0BDA-4747-8F45-A20D53018BC0}" type="presParOf" srcId="{85B056D5-3D9F-4D2A-BB7C-F2E96DB820B7}" destId="{085F7E59-0517-402F-83C5-00CF081F0F75}" srcOrd="3" destOrd="0" presId="urn:microsoft.com/office/officeart/2005/8/layout/hProcess4"/>
    <dgm:cxn modelId="{113CB2A6-DA55-45FF-8F41-B17859E593DF}" type="presParOf" srcId="{85B056D5-3D9F-4D2A-BB7C-F2E96DB820B7}" destId="{B8C7A7FE-51C0-422C-9352-80B2AFFF7411}" srcOrd="4" destOrd="0" presId="urn:microsoft.com/office/officeart/2005/8/layout/hProcess4"/>
    <dgm:cxn modelId="{BE2AE425-FF97-4072-BE26-627F3ECD0B15}" type="presParOf" srcId="{34211FE0-44AA-4FD5-9580-849E23BB57E6}" destId="{4781C67B-0FCA-412B-9E36-042EC0CCE1F7}" srcOrd="1" destOrd="0" presId="urn:microsoft.com/office/officeart/2005/8/layout/hProcess4"/>
    <dgm:cxn modelId="{FF1B88AA-EB48-4BB7-A7FD-E20BDF502FBE}" type="presParOf" srcId="{34211FE0-44AA-4FD5-9580-849E23BB57E6}" destId="{A45B4C10-064C-4040-9EDF-463A02ACF758}" srcOrd="2" destOrd="0" presId="urn:microsoft.com/office/officeart/2005/8/layout/hProcess4"/>
    <dgm:cxn modelId="{39E9640E-7DC4-422B-ADC6-283651726DB1}" type="presParOf" srcId="{A45B4C10-064C-4040-9EDF-463A02ACF758}" destId="{50A40F7F-4375-4395-96D7-FA07E8F81C29}" srcOrd="0" destOrd="0" presId="urn:microsoft.com/office/officeart/2005/8/layout/hProcess4"/>
    <dgm:cxn modelId="{9F3D8FE8-97F6-4081-8FF3-3F1F55D24690}" type="presParOf" srcId="{A45B4C10-064C-4040-9EDF-463A02ACF758}" destId="{717A6ABD-D343-4745-A2A4-BB4F5EA0A2D5}" srcOrd="1" destOrd="0" presId="urn:microsoft.com/office/officeart/2005/8/layout/hProcess4"/>
    <dgm:cxn modelId="{8C83072A-08D6-40E5-8D97-7A8DAB5292A8}" type="presParOf" srcId="{A45B4C10-064C-4040-9EDF-463A02ACF758}" destId="{3B32DF49-B48E-4DB7-8491-B6C9B7E6E51F}" srcOrd="2" destOrd="0" presId="urn:microsoft.com/office/officeart/2005/8/layout/hProcess4"/>
    <dgm:cxn modelId="{492EF2B3-2C7A-4203-A79D-E656FC84166E}" type="presParOf" srcId="{A45B4C10-064C-4040-9EDF-463A02ACF758}" destId="{E4C1F7E2-5F6C-425D-B3D8-83F55C9482CE}" srcOrd="3" destOrd="0" presId="urn:microsoft.com/office/officeart/2005/8/layout/hProcess4"/>
    <dgm:cxn modelId="{1918A2CF-0129-476A-9F6E-9DA3EF8DAEC9}" type="presParOf" srcId="{A45B4C10-064C-4040-9EDF-463A02ACF758}" destId="{E3938DAA-3197-4911-8FEC-E2689846F868}" srcOrd="4" destOrd="0" presId="urn:microsoft.com/office/officeart/2005/8/layout/hProcess4"/>
    <dgm:cxn modelId="{B6EA9A99-59F7-4968-B7CD-89147411445E}" type="presParOf" srcId="{34211FE0-44AA-4FD5-9580-849E23BB57E6}" destId="{83DB9A61-2518-4152-9BC2-A84F9D749F98}" srcOrd="3" destOrd="0" presId="urn:microsoft.com/office/officeart/2005/8/layout/hProcess4"/>
    <dgm:cxn modelId="{A829D2A9-7587-4454-B2E1-B71F52460A56}" type="presParOf" srcId="{34211FE0-44AA-4FD5-9580-849E23BB57E6}" destId="{2A92BD69-CE3B-4AF7-A108-281C0EDBB3C7}" srcOrd="4" destOrd="0" presId="urn:microsoft.com/office/officeart/2005/8/layout/hProcess4"/>
    <dgm:cxn modelId="{A9193C0D-9390-4B71-AA78-8D2852154A4C}" type="presParOf" srcId="{2A92BD69-CE3B-4AF7-A108-281C0EDBB3C7}" destId="{5B9BE1CA-B73C-40F5-964F-9851C0BCAB9D}" srcOrd="0" destOrd="0" presId="urn:microsoft.com/office/officeart/2005/8/layout/hProcess4"/>
    <dgm:cxn modelId="{D82D64E6-662D-40B4-93A6-67A5E9B62D2C}" type="presParOf" srcId="{2A92BD69-CE3B-4AF7-A108-281C0EDBB3C7}" destId="{03720FF1-0AF4-4AE1-B720-3ACEFFA10A1F}" srcOrd="1" destOrd="0" presId="urn:microsoft.com/office/officeart/2005/8/layout/hProcess4"/>
    <dgm:cxn modelId="{B2DA67BD-2B66-472A-835F-35A77C3356E5}" type="presParOf" srcId="{2A92BD69-CE3B-4AF7-A108-281C0EDBB3C7}" destId="{2A48D567-5714-4569-8EC1-E1F07A81FFC0}" srcOrd="2" destOrd="0" presId="urn:microsoft.com/office/officeart/2005/8/layout/hProcess4"/>
    <dgm:cxn modelId="{CA8A485E-A135-445E-8B9A-380CF21576A9}" type="presParOf" srcId="{2A92BD69-CE3B-4AF7-A108-281C0EDBB3C7}" destId="{5329A9E6-0AAC-421F-AE75-E1F226CAA004}" srcOrd="3" destOrd="0" presId="urn:microsoft.com/office/officeart/2005/8/layout/hProcess4"/>
    <dgm:cxn modelId="{D4A61645-1ABE-4C76-8503-E2940B387720}" type="presParOf" srcId="{2A92BD69-CE3B-4AF7-A108-281C0EDBB3C7}" destId="{BA71B1C6-CB1B-4668-AD67-B31EDF7FDDA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DB190C-5BF0-45A8-9CD2-5ADDB6000937}">
      <dsp:nvSpPr>
        <dsp:cNvPr id="0" name=""/>
        <dsp:cNvSpPr/>
      </dsp:nvSpPr>
      <dsp:spPr>
        <a:xfrm>
          <a:off x="3759" y="1805566"/>
          <a:ext cx="2983811" cy="2085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CO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3000" kern="1200" dirty="0" smtClean="0"/>
            <a:t>3 grupos de 5 estudiantes</a:t>
          </a:r>
          <a:endParaRPr lang="es-CO" sz="3000" kern="1200" dirty="0"/>
        </a:p>
      </dsp:txBody>
      <dsp:txXfrm>
        <a:off x="51746" y="1853553"/>
        <a:ext cx="2887837" cy="1542428"/>
      </dsp:txXfrm>
    </dsp:sp>
    <dsp:sp modelId="{4781C67B-0FCA-412B-9E36-042EC0CCE1F7}">
      <dsp:nvSpPr>
        <dsp:cNvPr id="0" name=""/>
        <dsp:cNvSpPr/>
      </dsp:nvSpPr>
      <dsp:spPr>
        <a:xfrm>
          <a:off x="1645709" y="2114250"/>
          <a:ext cx="3032704" cy="3032704"/>
        </a:xfrm>
        <a:prstGeom prst="leftCircularArrow">
          <a:avLst>
            <a:gd name="adj1" fmla="val 2574"/>
            <a:gd name="adj2" fmla="val 312496"/>
            <a:gd name="adj3" fmla="val 2088006"/>
            <a:gd name="adj4" fmla="val 9024489"/>
            <a:gd name="adj5" fmla="val 300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F7E59-0517-402F-83C5-00CF081F0F75}">
      <dsp:nvSpPr>
        <dsp:cNvPr id="0" name=""/>
        <dsp:cNvSpPr/>
      </dsp:nvSpPr>
      <dsp:spPr>
        <a:xfrm>
          <a:off x="793386" y="3443969"/>
          <a:ext cx="2247292" cy="893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800" kern="1200" dirty="0" smtClean="0"/>
            <a:t>Medicina Interna</a:t>
          </a:r>
          <a:endParaRPr lang="es-CO" sz="2800" kern="1200" dirty="0"/>
        </a:p>
      </dsp:txBody>
      <dsp:txXfrm>
        <a:off x="819561" y="3470144"/>
        <a:ext cx="2194942" cy="841324"/>
      </dsp:txXfrm>
    </dsp:sp>
    <dsp:sp modelId="{717A6ABD-D343-4745-A2A4-BB4F5EA0A2D5}">
      <dsp:nvSpPr>
        <dsp:cNvPr id="0" name=""/>
        <dsp:cNvSpPr/>
      </dsp:nvSpPr>
      <dsp:spPr>
        <a:xfrm>
          <a:off x="3412410" y="1805566"/>
          <a:ext cx="3084914" cy="2085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3000" kern="1200" dirty="0" smtClean="0"/>
            <a:t>2 grupos de 4 estudiantes</a:t>
          </a:r>
          <a:endParaRPr lang="es-CO" sz="3000" kern="1200" dirty="0"/>
        </a:p>
      </dsp:txBody>
      <dsp:txXfrm>
        <a:off x="3460397" y="2300390"/>
        <a:ext cx="2988940" cy="1542428"/>
      </dsp:txXfrm>
    </dsp:sp>
    <dsp:sp modelId="{83DB9A61-2518-4152-9BC2-A84F9D749F98}">
      <dsp:nvSpPr>
        <dsp:cNvPr id="0" name=""/>
        <dsp:cNvSpPr/>
      </dsp:nvSpPr>
      <dsp:spPr>
        <a:xfrm>
          <a:off x="5084678" y="470895"/>
          <a:ext cx="3342960" cy="3342960"/>
        </a:xfrm>
        <a:prstGeom prst="circularArrow">
          <a:avLst>
            <a:gd name="adj1" fmla="val 2335"/>
            <a:gd name="adj2" fmla="val 281930"/>
            <a:gd name="adj3" fmla="val 19542560"/>
            <a:gd name="adj4" fmla="val 12575511"/>
            <a:gd name="adj5" fmla="val 272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1F7E2-5F6C-425D-B3D8-83F55C9482CE}">
      <dsp:nvSpPr>
        <dsp:cNvPr id="0" name=""/>
        <dsp:cNvSpPr/>
      </dsp:nvSpPr>
      <dsp:spPr>
        <a:xfrm>
          <a:off x="4252589" y="1358729"/>
          <a:ext cx="2247292" cy="893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800" kern="1200" dirty="0" smtClean="0"/>
            <a:t>Cirugía</a:t>
          </a:r>
          <a:endParaRPr lang="es-CO" sz="2800" kern="1200" dirty="0"/>
        </a:p>
      </dsp:txBody>
      <dsp:txXfrm>
        <a:off x="4278764" y="1384904"/>
        <a:ext cx="2194942" cy="841324"/>
      </dsp:txXfrm>
    </dsp:sp>
    <dsp:sp modelId="{03720FF1-0AF4-4AE1-B720-3ACEFFA10A1F}">
      <dsp:nvSpPr>
        <dsp:cNvPr id="0" name=""/>
        <dsp:cNvSpPr/>
      </dsp:nvSpPr>
      <dsp:spPr>
        <a:xfrm>
          <a:off x="6871613" y="1805566"/>
          <a:ext cx="3062666" cy="2085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ctr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CO" sz="3000" kern="1200" dirty="0"/>
        </a:p>
        <a:p>
          <a:pPr marL="285750" lvl="1" indent="-285750" algn="ctr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3000" kern="1200" dirty="0" smtClean="0"/>
            <a:t>2 grupos de 5 estudiantes</a:t>
          </a:r>
          <a:endParaRPr lang="es-CO" sz="3000" kern="1200" dirty="0"/>
        </a:p>
      </dsp:txBody>
      <dsp:txXfrm>
        <a:off x="6919600" y="1853553"/>
        <a:ext cx="2966692" cy="1542428"/>
      </dsp:txXfrm>
    </dsp:sp>
    <dsp:sp modelId="{5329A9E6-0AAC-421F-AE75-E1F226CAA004}">
      <dsp:nvSpPr>
        <dsp:cNvPr id="0" name=""/>
        <dsp:cNvSpPr/>
      </dsp:nvSpPr>
      <dsp:spPr>
        <a:xfrm>
          <a:off x="7700667" y="3443969"/>
          <a:ext cx="2247292" cy="893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800" kern="1200" dirty="0" smtClean="0"/>
            <a:t>Ginecología y Obstetricia</a:t>
          </a:r>
          <a:endParaRPr lang="es-CO" sz="2800" kern="1200" dirty="0"/>
        </a:p>
      </dsp:txBody>
      <dsp:txXfrm>
        <a:off x="7726842" y="3470144"/>
        <a:ext cx="2194942" cy="841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DB2D-1ADF-AD40-A7EB-E569FBD590C4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BDA26-279D-AB41-B7C9-C167F1A24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10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BDA26-279D-AB41-B7C9-C167F1A24F25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43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2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7373" y="1007953"/>
            <a:ext cx="9120403" cy="688284"/>
          </a:xfrm>
          <a:prstGeom prst="rect">
            <a:avLst/>
          </a:prstGeom>
        </p:spPr>
        <p:txBody>
          <a:bodyPr anchor="ctr"/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14304" y="1831510"/>
            <a:ext cx="9167614" cy="33615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58239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931" y="1338035"/>
            <a:ext cx="10278980" cy="850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5931" y="3293978"/>
            <a:ext cx="10236869" cy="2443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4060ED4-3DBD-5FA8-DEC9-41FCFE01C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931" y="2323821"/>
            <a:ext cx="10278980" cy="8920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678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8B6B99F-CC39-DD4D-AE30-BABC42298ACB}"/>
              </a:ext>
            </a:extLst>
          </p:cNvPr>
          <p:cNvSpPr txBox="1"/>
          <p:nvPr userDrawn="1"/>
        </p:nvSpPr>
        <p:spPr>
          <a:xfrm>
            <a:off x="3335328" y="2967335"/>
            <a:ext cx="552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67454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12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7373" y="1007953"/>
            <a:ext cx="9120403" cy="688284"/>
          </a:xfrm>
          <a:prstGeom prst="rect">
            <a:avLst/>
          </a:prstGeom>
        </p:spPr>
        <p:txBody>
          <a:bodyPr anchor="ctr"/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14304" y="1831510"/>
            <a:ext cx="9167614" cy="33615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13272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des_tex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931" y="1338035"/>
            <a:ext cx="10278980" cy="850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5931" y="3293978"/>
            <a:ext cx="10236869" cy="2443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4060ED4-3DBD-5FA8-DEC9-41FCFE01C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931" y="2323821"/>
            <a:ext cx="10278980" cy="8920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6012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8B6B99F-CC39-DD4D-AE30-BABC42298ACB}"/>
              </a:ext>
            </a:extLst>
          </p:cNvPr>
          <p:cNvSpPr txBox="1"/>
          <p:nvPr userDrawn="1"/>
        </p:nvSpPr>
        <p:spPr>
          <a:xfrm>
            <a:off x="3335328" y="2967335"/>
            <a:ext cx="552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59180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75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1" r:id="rId2"/>
    <p:sldLayoutId id="2147483662" r:id="rId3"/>
    <p:sldLayoutId id="214748368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82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9F98C-3201-6399-C66E-F86A20BA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499" y="1109901"/>
            <a:ext cx="10895598" cy="688284"/>
          </a:xfrm>
        </p:spPr>
        <p:txBody>
          <a:bodyPr/>
          <a:lstStyle/>
          <a:p>
            <a:r>
              <a:rPr lang="es-CO" sz="2800" dirty="0"/>
              <a:t>INFORME DE AUTOEVALUACIÓN </a:t>
            </a:r>
            <a:r>
              <a:rPr lang="es-CO" sz="2800" dirty="0" smtClean="0"/>
              <a:t/>
            </a:r>
            <a:br>
              <a:rPr lang="es-CO" sz="2800" dirty="0" smtClean="0"/>
            </a:br>
            <a:r>
              <a:rPr lang="es-CO" sz="2800" dirty="0" smtClean="0"/>
              <a:t>PRÁCTICAS FORMATIVAS</a:t>
            </a:r>
            <a:r>
              <a:rPr lang="es-CO" sz="2800" dirty="0"/>
              <a:t/>
            </a:r>
            <a:br>
              <a:rPr lang="es-CO" sz="2800" dirty="0"/>
            </a:b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ECA1D6-4C61-0784-82A0-573955E97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202" y="2623601"/>
            <a:ext cx="10513595" cy="3710291"/>
          </a:xfrm>
        </p:spPr>
        <p:txBody>
          <a:bodyPr>
            <a:normAutofit/>
          </a:bodyPr>
          <a:lstStyle/>
          <a:p>
            <a:pPr algn="ctr"/>
            <a:r>
              <a:rPr lang="es-CO" sz="2000" b="1" dirty="0"/>
              <a:t>CLINICA ALTA COMPLEJIDAD </a:t>
            </a:r>
          </a:p>
          <a:p>
            <a:pPr algn="ctr"/>
            <a:r>
              <a:rPr lang="es-CO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DOCENTE </a:t>
            </a:r>
            <a:r>
              <a:rPr lang="es-CO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(S)</a:t>
            </a:r>
          </a:p>
          <a:p>
            <a:pPr algn="ctr"/>
            <a:r>
              <a:rPr lang="es-CO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Ginna</a:t>
            </a:r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Rodríguez de la Vega</a:t>
            </a:r>
          </a:p>
          <a:p>
            <a:pPr algn="ctr"/>
            <a:r>
              <a:rPr lang="es-ES" sz="20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Meivis</a:t>
            </a:r>
            <a:r>
              <a:rPr lang="es-E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Venencia Ayala</a:t>
            </a:r>
          </a:p>
          <a:p>
            <a:pPr algn="ctr"/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Luis Joaquín Palomino</a:t>
            </a:r>
            <a:endParaRPr lang="es-CO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endParaRPr lang="es-CO" sz="2100" dirty="0">
              <a:solidFill>
                <a:srgbClr val="FF0000"/>
              </a:solidFill>
            </a:endParaRPr>
          </a:p>
          <a:p>
            <a:pPr algn="ctr"/>
            <a:r>
              <a:rPr lang="es-CO" sz="2100" dirty="0"/>
              <a:t>2025 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25DC06-A827-DBDE-B7AA-AAD230F47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730" y="4720656"/>
            <a:ext cx="1714030" cy="1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8">
            <a:extLst>
              <a:ext uri="{FF2B5EF4-FFF2-40B4-BE49-F238E27FC236}">
                <a16:creationId xmlns:a16="http://schemas.microsoft.com/office/drawing/2014/main" id="{229E281B-4890-F216-4714-11EDBD345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375" y="5157933"/>
            <a:ext cx="3223028" cy="123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5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58162D8-8902-4334-3976-B35ACC8C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191" y="452330"/>
            <a:ext cx="3458169" cy="907688"/>
          </a:xfrm>
        </p:spPr>
        <p:txBody>
          <a:bodyPr/>
          <a:lstStyle/>
          <a:p>
            <a:r>
              <a:rPr lang="en-US" sz="2800" dirty="0"/>
              <a:t>ESTUDIANTES</a:t>
            </a:r>
          </a:p>
        </p:txBody>
      </p:sp>
      <p:graphicFrame>
        <p:nvGraphicFramePr>
          <p:cNvPr id="3" name="2 Diagrama"/>
          <p:cNvGraphicFramePr/>
          <p:nvPr>
            <p:extLst/>
          </p:nvPr>
        </p:nvGraphicFramePr>
        <p:xfrm>
          <a:off x="868680" y="1036320"/>
          <a:ext cx="9951720" cy="5696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4"/>
          <p:cNvGraphicFramePr>
            <a:graphicFrameLocks noGrp="1"/>
          </p:cNvGraphicFramePr>
          <p:nvPr>
            <p:extLst/>
          </p:nvPr>
        </p:nvGraphicFramePr>
        <p:xfrm>
          <a:off x="960518" y="1300840"/>
          <a:ext cx="10252215" cy="45766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12535">
                  <a:extLst>
                    <a:ext uri="{9D8B030D-6E8A-4147-A177-3AD203B41FA5}">
                      <a16:colId xmlns:a16="http://schemas.microsoft.com/office/drawing/2014/main" val="2526320552"/>
                    </a:ext>
                  </a:extLst>
                </a:gridCol>
                <a:gridCol w="2822275">
                  <a:extLst>
                    <a:ext uri="{9D8B030D-6E8A-4147-A177-3AD203B41FA5}">
                      <a16:colId xmlns:a16="http://schemas.microsoft.com/office/drawing/2014/main" val="294589471"/>
                    </a:ext>
                  </a:extLst>
                </a:gridCol>
                <a:gridCol w="3417405">
                  <a:extLst>
                    <a:ext uri="{9D8B030D-6E8A-4147-A177-3AD203B41FA5}">
                      <a16:colId xmlns:a16="http://schemas.microsoft.com/office/drawing/2014/main" val="1227954160"/>
                    </a:ext>
                  </a:extLst>
                </a:gridCol>
              </a:tblGrid>
              <a:tr h="1008691"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Docentes</a:t>
                      </a:r>
                      <a:r>
                        <a:rPr lang="es-CO" sz="2400" baseline="0" dirty="0"/>
                        <a:t> (s) a cargo</a:t>
                      </a:r>
                      <a:endParaRPr lang="es-C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/>
                        <a:t>N° total de estudiantes</a:t>
                      </a:r>
                      <a:r>
                        <a:rPr lang="es-CO" sz="2400" baseline="0"/>
                        <a:t> al semestre</a:t>
                      </a:r>
                      <a:endParaRPr lang="es-CO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/>
                        <a:t>N°</a:t>
                      </a:r>
                      <a:r>
                        <a:rPr lang="es-CO" sz="2400" baseline="0"/>
                        <a:t> de horas diarias/semanal</a:t>
                      </a:r>
                      <a:endParaRPr lang="es-CO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41017"/>
                  </a:ext>
                </a:extLst>
              </a:tr>
              <a:tr h="720347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Ginna Rodríguez de la </a:t>
                      </a:r>
                      <a:r>
                        <a:rPr lang="es-CO" sz="1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Vega</a:t>
                      </a:r>
                    </a:p>
                    <a:p>
                      <a:pPr algn="ctr"/>
                      <a:r>
                        <a:rPr lang="es-CO" sz="2400" b="1" dirty="0" smtClean="0">
                          <a:solidFill>
                            <a:schemeClr val="tx1"/>
                          </a:solidFill>
                        </a:rPr>
                        <a:t>Medicina Interna</a:t>
                      </a:r>
                      <a:endParaRPr lang="es-CO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es-CO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baseline="0" dirty="0" smtClean="0">
                          <a:solidFill>
                            <a:schemeClr val="tx1"/>
                          </a:solidFill>
                        </a:rPr>
                        <a:t>4.5 </a:t>
                      </a:r>
                      <a:r>
                        <a:rPr lang="es-MX" b="1" baseline="0" dirty="0">
                          <a:solidFill>
                            <a:schemeClr val="tx1"/>
                          </a:solidFill>
                        </a:rPr>
                        <a:t>horas diarias</a:t>
                      </a:r>
                    </a:p>
                    <a:p>
                      <a:pPr algn="ctr"/>
                      <a:r>
                        <a:rPr lang="es-MX" b="1" baseline="0" dirty="0">
                          <a:solidFill>
                            <a:schemeClr val="tx1"/>
                          </a:solidFill>
                        </a:rPr>
                        <a:t>18 horas semanales</a:t>
                      </a:r>
                    </a:p>
                    <a:p>
                      <a:pPr algn="ctr"/>
                      <a:endParaRPr lang="es-CO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682461"/>
                  </a:ext>
                </a:extLst>
              </a:tr>
              <a:tr h="720348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Luis Joaquín</a:t>
                      </a:r>
                      <a:r>
                        <a:rPr lang="es-CO" sz="18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Palomino</a:t>
                      </a:r>
                    </a:p>
                    <a:p>
                      <a:pPr algn="ctr"/>
                      <a:r>
                        <a:rPr lang="es-CO" sz="2400" b="1" baseline="0" dirty="0" smtClean="0">
                          <a:solidFill>
                            <a:schemeClr val="tx1"/>
                          </a:solidFill>
                        </a:rPr>
                        <a:t>Cirugía General</a:t>
                      </a:r>
                      <a:endParaRPr lang="es-CO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s-CO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baseline="0" dirty="0" smtClean="0">
                          <a:solidFill>
                            <a:schemeClr val="tx1"/>
                          </a:solidFill>
                        </a:rPr>
                        <a:t>4.5 horas diarias</a:t>
                      </a:r>
                    </a:p>
                    <a:p>
                      <a:pPr algn="ctr"/>
                      <a:r>
                        <a:rPr lang="es-MX" b="1" baseline="0" dirty="0" smtClean="0">
                          <a:solidFill>
                            <a:schemeClr val="tx1"/>
                          </a:solidFill>
                        </a:rPr>
                        <a:t>18 horas semanales</a:t>
                      </a:r>
                    </a:p>
                    <a:p>
                      <a:pPr algn="ctr"/>
                      <a:endParaRPr lang="es-CO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728777"/>
                  </a:ext>
                </a:extLst>
              </a:tr>
              <a:tr h="720347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Meivis</a:t>
                      </a:r>
                      <a:r>
                        <a:rPr lang="es-CO" sz="1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Venencia Ayala</a:t>
                      </a:r>
                    </a:p>
                    <a:p>
                      <a:pPr algn="ctr"/>
                      <a:r>
                        <a:rPr lang="es-CO" sz="2400" b="1" dirty="0" smtClean="0">
                          <a:solidFill>
                            <a:schemeClr val="tx1"/>
                          </a:solidFill>
                        </a:rPr>
                        <a:t>Ginecología y Obstetricia</a:t>
                      </a:r>
                      <a:endParaRPr lang="es-CO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s-CO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baseline="0" dirty="0" smtClean="0">
                          <a:solidFill>
                            <a:schemeClr val="tx1"/>
                          </a:solidFill>
                        </a:rPr>
                        <a:t>4.5 horas diarias</a:t>
                      </a:r>
                    </a:p>
                    <a:p>
                      <a:pPr algn="ctr"/>
                      <a:r>
                        <a:rPr lang="es-MX" b="1" baseline="0" dirty="0" smtClean="0">
                          <a:solidFill>
                            <a:schemeClr val="tx1"/>
                          </a:solidFill>
                        </a:rPr>
                        <a:t>18 horas semanales</a:t>
                      </a:r>
                    </a:p>
                    <a:p>
                      <a:pPr algn="ctr"/>
                      <a:endParaRPr lang="es-CO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4570"/>
                  </a:ext>
                </a:extLst>
              </a:tr>
              <a:tr h="644765">
                <a:tc gridSpan="3">
                  <a:txBody>
                    <a:bodyPr/>
                    <a:lstStyle/>
                    <a:p>
                      <a:pPr algn="l"/>
                      <a:r>
                        <a:rPr lang="es-CO" b="1" dirty="0">
                          <a:solidFill>
                            <a:schemeClr val="tx1"/>
                          </a:solidFill>
                        </a:rPr>
                        <a:t>TOTAL DE SEMANAS AL SEMESTRE: 18 SEMANAS.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68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4"/>
          <p:cNvGraphicFramePr>
            <a:graphicFrameLocks noGrp="1"/>
          </p:cNvGraphicFramePr>
          <p:nvPr>
            <p:extLst/>
          </p:nvPr>
        </p:nvGraphicFramePr>
        <p:xfrm>
          <a:off x="545433" y="989522"/>
          <a:ext cx="11133220" cy="5608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60756">
                  <a:extLst>
                    <a:ext uri="{9D8B030D-6E8A-4147-A177-3AD203B41FA5}">
                      <a16:colId xmlns:a16="http://schemas.microsoft.com/office/drawing/2014/main" val="434074638"/>
                    </a:ext>
                  </a:extLst>
                </a:gridCol>
                <a:gridCol w="6272464">
                  <a:extLst>
                    <a:ext uri="{9D8B030D-6E8A-4147-A177-3AD203B41FA5}">
                      <a16:colId xmlns:a16="http://schemas.microsoft.com/office/drawing/2014/main" val="1566496758"/>
                    </a:ext>
                  </a:extLst>
                </a:gridCol>
              </a:tblGrid>
              <a:tr h="536163">
                <a:tc>
                  <a:txBody>
                    <a:bodyPr/>
                    <a:lstStyle/>
                    <a:p>
                      <a:pPr algn="ctr"/>
                      <a:r>
                        <a:rPr lang="es-CO" sz="2000"/>
                        <a:t>COMPETENCIA DE LA PRÁCTICA FORMATIVA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RESULTADO DE APRENDIZAJE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4157"/>
                  </a:ext>
                </a:extLst>
              </a:tr>
              <a:tr h="4554272"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Mostrar habilidades interpersonales y valores éticos que favorecen una comunicación clara y efectiva con los pacientes, sus familias, cuidadores y el equipo de salud, para facilitar consensos y decisiones conjuntas y bien fundamentadas.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ES" sz="5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Conocer los diferentes tratamientos y procedimientos quirúrgicos para resolver las patologías citas en el área de prácticas.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US" sz="5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Identificar las principales patologías ginecológicas y obstétricas que influyen en la morbimortalidad de la población femenina.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s-CO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Fomentar la participación activa y colaborativa de personas, familias, comunidades, profesionales de la salud y otros actores sociales en el cuidado integral de la salud, utilizando estrategias comunicativas que favorezcan la toma de decisiones compartidas y consensuadas.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5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conocieron las diferentes patologías más tratadas y comunes de cirugía general, así como las no tan comunes en las que abarcan cánceres, tumores y malformaciones.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s-US" sz="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 finalizar la rotación, los estudiantes serán capaces de identificar y diagnosticar las patologías ginecológicas y obstétricas más comunes, complicaciones del embarazo, enfermedades infecciosas ginecológicas y cánceres ginecológicos, aplicando criterios clínicos y diagnósticos basados ​​en evidencia científica.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869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33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20340" y="1682922"/>
            <a:ext cx="8045878" cy="452668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891130" y="6506815"/>
            <a:ext cx="5009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200" i="1" dirty="0"/>
              <a:t>Acuerdo 00273 de 2021 MERDS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1119808" y="925364"/>
            <a:ext cx="9846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 DE AUTOEVALUACIÓN DE LA RELACIÓN DOCENCIA SERVICIO (ACUERDO 00273 DE 2021)</a:t>
            </a:r>
          </a:p>
        </p:txBody>
      </p:sp>
    </p:spTree>
    <p:extLst>
      <p:ext uri="{BB962C8B-B14F-4D97-AF65-F5344CB8AC3E}">
        <p14:creationId xmlns:p14="http://schemas.microsoft.com/office/powerpoint/2010/main" val="197802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5445" y="813519"/>
            <a:ext cx="10278980" cy="850065"/>
          </a:xfrm>
        </p:spPr>
        <p:txBody>
          <a:bodyPr/>
          <a:lstStyle/>
          <a:p>
            <a:r>
              <a:rPr lang="es-CO" dirty="0"/>
              <a:t>EVALUACIÓN DE LA RELACIÓN DOCENCIA SERVICIO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/>
          </p:nvPr>
        </p:nvGraphicFramePr>
        <p:xfrm>
          <a:off x="783780" y="1466697"/>
          <a:ext cx="10310645" cy="4720476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367380">
                  <a:extLst>
                    <a:ext uri="{9D8B030D-6E8A-4147-A177-3AD203B41FA5}">
                      <a16:colId xmlns:a16="http://schemas.microsoft.com/office/drawing/2014/main" val="260999178"/>
                    </a:ext>
                  </a:extLst>
                </a:gridCol>
                <a:gridCol w="1557193">
                  <a:extLst>
                    <a:ext uri="{9D8B030D-6E8A-4147-A177-3AD203B41FA5}">
                      <a16:colId xmlns:a16="http://schemas.microsoft.com/office/drawing/2014/main" val="1408798593"/>
                    </a:ext>
                  </a:extLst>
                </a:gridCol>
                <a:gridCol w="1561162">
                  <a:extLst>
                    <a:ext uri="{9D8B030D-6E8A-4147-A177-3AD203B41FA5}">
                      <a16:colId xmlns:a16="http://schemas.microsoft.com/office/drawing/2014/main" val="3351721825"/>
                    </a:ext>
                  </a:extLst>
                </a:gridCol>
                <a:gridCol w="1855305">
                  <a:extLst>
                    <a:ext uri="{9D8B030D-6E8A-4147-A177-3AD203B41FA5}">
                      <a16:colId xmlns:a16="http://schemas.microsoft.com/office/drawing/2014/main" val="1579341684"/>
                    </a:ext>
                  </a:extLst>
                </a:gridCol>
                <a:gridCol w="1855305">
                  <a:extLst>
                    <a:ext uri="{9D8B030D-6E8A-4147-A177-3AD203B41FA5}">
                      <a16:colId xmlns:a16="http://schemas.microsoft.com/office/drawing/2014/main" val="621328528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434415925"/>
                    </a:ext>
                  </a:extLst>
                </a:gridCol>
              </a:tblGrid>
              <a:tr h="59090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CONDICIONES DE CALIDAD DE LA RDS  EVALUADAS</a:t>
                      </a:r>
                      <a:endParaRPr lang="es-CO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(Acuerdo 00273 de 2021)</a:t>
                      </a:r>
                      <a:endParaRPr lang="es-CO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ENCUESTAS RELACION DOCENCIA SERVICIO ESCENARIOS CLÍNICOS</a:t>
                      </a:r>
                      <a:endParaRPr lang="es-CO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503137"/>
                  </a:ext>
                </a:extLst>
              </a:tr>
              <a:tr h="59999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i="1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COORDINADOR</a:t>
                      </a:r>
                      <a:r>
                        <a:rPr lang="es-ES" sz="1100" i="1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PRÁCTICAS</a:t>
                      </a:r>
                      <a:endParaRPr lang="es-ES" sz="1100" i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DOCENTES</a:t>
                      </a:r>
                      <a:endParaRPr lang="es-CO" sz="16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ESTUDIANTES</a:t>
                      </a:r>
                      <a:endParaRPr lang="es-CO" sz="16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PROMEDIO</a:t>
                      </a:r>
                      <a:endParaRPr lang="es-CO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258375175"/>
                  </a:ext>
                </a:extLst>
              </a:tr>
              <a:tr h="3356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ASPECTOS GENERALES</a:t>
                      </a:r>
                      <a:endParaRPr lang="es-CO" sz="16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4,7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56450653"/>
                  </a:ext>
                </a:extLst>
              </a:tr>
              <a:tr h="4159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CAPACIDAD INSTALADA</a:t>
                      </a:r>
                      <a:endParaRPr lang="es-CO" sz="16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3,6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4,4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73632160"/>
                  </a:ext>
                </a:extLst>
              </a:tr>
              <a:tr h="4219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SEGURIDAD, PROTECCIÓN Y BIENESTAR</a:t>
                      </a:r>
                      <a:endParaRPr lang="es-CO" sz="16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3,8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4,2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4,2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695070153"/>
                  </a:ext>
                </a:extLst>
              </a:tr>
              <a:tr h="5999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ORGANIZACIÓN ADMINISTRATIVA PARA LA DOCENCIA SERVICIO</a:t>
                      </a:r>
                      <a:endParaRPr lang="es-CO" sz="16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4,2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4,7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161218105"/>
                  </a:ext>
                </a:extLst>
              </a:tr>
              <a:tr h="43964">
                <a:tc>
                  <a:txBody>
                    <a:bodyPr/>
                    <a:lstStyle/>
                    <a:p>
                      <a:endParaRPr lang="es-419" sz="100" dirty="0"/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85131634"/>
                  </a:ext>
                </a:extLst>
              </a:tr>
              <a:tr h="3106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</a:t>
                      </a:r>
                      <a:r>
                        <a:rPr lang="es-ES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PRACTICAS FORMATIVAS</a:t>
                      </a:r>
                      <a:endParaRPr lang="es-CO" sz="16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4,3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3,8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4,4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45290202"/>
                  </a:ext>
                </a:extLst>
              </a:tr>
              <a:tr h="4212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s-ES" sz="11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s-ES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CULTURA DEL MEJORAMIENTO CONTINUO</a:t>
                      </a:r>
                      <a:endParaRPr lang="es-CO" sz="16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3,3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4,1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82657497"/>
                  </a:ext>
                </a:extLst>
              </a:tr>
              <a:tr h="7499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PROMEDIO GENERAL</a:t>
                      </a:r>
                      <a:endParaRPr lang="es-CO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4,7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4,7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3,9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dirty="0" smtClean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4,4</a:t>
                      </a:r>
                      <a:endParaRPr lang="es-CO" sz="160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328819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82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024" y="193834"/>
            <a:ext cx="5494496" cy="850065"/>
          </a:xfrm>
        </p:spPr>
        <p:txBody>
          <a:bodyPr/>
          <a:lstStyle/>
          <a:p>
            <a:r>
              <a:rPr lang="es-CO" dirty="0"/>
              <a:t>OBSERVACIONES DE </a:t>
            </a:r>
            <a:r>
              <a:rPr lang="es-CO"/>
              <a:t>LA </a:t>
            </a:r>
            <a:r>
              <a:rPr lang="es-CO" smtClean="0"/>
              <a:t>EVALUACIÓN</a:t>
            </a:r>
            <a:endParaRPr lang="es-CO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/>
          </p:nvPr>
        </p:nvGraphicFramePr>
        <p:xfrm>
          <a:off x="766411" y="1476390"/>
          <a:ext cx="10772127" cy="489393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018949">
                  <a:extLst>
                    <a:ext uri="{9D8B030D-6E8A-4147-A177-3AD203B41FA5}">
                      <a16:colId xmlns:a16="http://schemas.microsoft.com/office/drawing/2014/main" val="337913508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85432472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429066868"/>
                    </a:ext>
                  </a:extLst>
                </a:gridCol>
                <a:gridCol w="3324178">
                  <a:extLst>
                    <a:ext uri="{9D8B030D-6E8A-4147-A177-3AD203B41FA5}">
                      <a16:colId xmlns:a16="http://schemas.microsoft.com/office/drawing/2014/main" val="1800146011"/>
                    </a:ext>
                  </a:extLst>
                </a:gridCol>
              </a:tblGrid>
              <a:tr h="748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CONDICIONES DE CALIDAD DE LA RDS  EVALUADAS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FORTALEZAS</a:t>
                      </a:r>
                      <a:endParaRPr lang="es-CO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DIFICULTADES</a:t>
                      </a:r>
                      <a:endParaRPr lang="es-CO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SUGERENCIAS PARA MEJORAR</a:t>
                      </a:r>
                      <a:endParaRPr lang="es-CO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extLst>
                  <a:ext uri="{0D108BD9-81ED-4DB2-BD59-A6C34878D82A}">
                    <a16:rowId xmlns:a16="http://schemas.microsoft.com/office/drawing/2014/main" val="4050539763"/>
                  </a:ext>
                </a:extLst>
              </a:tr>
              <a:tr h="2418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1. ASPECTOS GENERALES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rowSpan="7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r>
                        <a:rPr lang="es-ES" sz="1600" dirty="0" smtClean="0">
                          <a:effectLst/>
                        </a:rPr>
                        <a:t>Existe una buena comunicación entre docente, estudiantes, coordinación de prácticas y el respectivo seguimiento a las prácticas.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rowSpan="7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b"/>
                </a:tc>
                <a:tc rowSpan="7">
                  <a:txBody>
                    <a:bodyPr/>
                    <a:lstStyle/>
                    <a:p>
                      <a:pPr marL="285750" indent="-28575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600" dirty="0" smtClean="0">
                          <a:effectLst/>
                        </a:rPr>
                        <a:t>La clínica está en condiciones de recibir médicos internos por lo que se sugiere a la universidad revisar este tema para el próximo periodo académico. </a:t>
                      </a:r>
                    </a:p>
                    <a:p>
                      <a:pPr marL="0" indent="0" algn="just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ES" sz="1600" dirty="0" smtClean="0">
                        <a:effectLst/>
                      </a:endParaRPr>
                    </a:p>
                    <a:p>
                      <a:pPr marL="285750" indent="-28575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600" dirty="0" smtClean="0">
                          <a:effectLst/>
                        </a:rPr>
                        <a:t>Se sugiere hacer entrega de elementos de protección personal acordes al área de realización de las prácticas y en cantidad suficiente. </a:t>
                      </a:r>
                    </a:p>
                    <a:p>
                      <a:pPr marL="0" indent="0" algn="just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ES" sz="1600" dirty="0" smtClean="0">
                        <a:effectLst/>
                      </a:endParaRPr>
                    </a:p>
                    <a:p>
                      <a:pPr marL="285750" indent="-28575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600" dirty="0" smtClean="0">
                          <a:effectLst/>
                        </a:rPr>
                        <a:t>Las hojas de vida del personal se deben presentar a completitud y anticipadamente al inicio de las prácticas.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b"/>
                </a:tc>
                <a:extLst>
                  <a:ext uri="{0D108BD9-81ED-4DB2-BD59-A6C34878D82A}">
                    <a16:rowId xmlns:a16="http://schemas.microsoft.com/office/drawing/2014/main" val="1249209407"/>
                  </a:ext>
                </a:extLst>
              </a:tr>
              <a:tr h="3612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2. CAPACIDAD INSTALADA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472801"/>
                  </a:ext>
                </a:extLst>
              </a:tr>
              <a:tr h="4696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3. SEGURIDAD, PROTECCIÓN Y BIENESTAR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11691"/>
                  </a:ext>
                </a:extLst>
              </a:tr>
              <a:tr h="4837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4. ORGANIZACIÓN ADMINISTRATIVA PARA LA DOCENCIA SERVICIO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03872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485623"/>
                  </a:ext>
                </a:extLst>
              </a:tr>
              <a:tr h="2418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5</a:t>
                      </a:r>
                      <a:r>
                        <a:rPr lang="es-ES" sz="1600" dirty="0" smtClean="0">
                          <a:effectLst/>
                        </a:rPr>
                        <a:t>. </a:t>
                      </a:r>
                      <a:r>
                        <a:rPr lang="es-ES" sz="1600" dirty="0">
                          <a:effectLst/>
                        </a:rPr>
                        <a:t>PRACTICAS FORMATIVAS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28222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6</a:t>
                      </a:r>
                      <a:r>
                        <a:rPr lang="es-ES" sz="1600" dirty="0" smtClean="0">
                          <a:effectLst/>
                        </a:rPr>
                        <a:t>. </a:t>
                      </a:r>
                      <a:r>
                        <a:rPr lang="es-ES" sz="1600" dirty="0">
                          <a:effectLst/>
                        </a:rPr>
                        <a:t>CULTURA DEL MEJORAMIENTO CONTINUO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00754"/>
                  </a:ext>
                </a:extLst>
              </a:tr>
            </a:tbl>
          </a:graphicData>
        </a:graphic>
      </p:graphicFrame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3475282" y="998179"/>
            <a:ext cx="6217358" cy="496230"/>
          </a:xfrm>
        </p:spPr>
        <p:txBody>
          <a:bodyPr/>
          <a:lstStyle/>
          <a:p>
            <a:r>
              <a:rPr lang="es-CO" sz="2800" dirty="0"/>
              <a:t>Coordinador de </a:t>
            </a:r>
            <a:r>
              <a:rPr lang="es-CO" sz="2800" dirty="0" smtClean="0"/>
              <a:t>Prácticas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66547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3772300" y="1051561"/>
            <a:ext cx="6493918" cy="1075716"/>
          </a:xfrm>
        </p:spPr>
        <p:txBody>
          <a:bodyPr/>
          <a:lstStyle/>
          <a:p>
            <a:r>
              <a:rPr lang="es-CO" sz="2400" dirty="0"/>
              <a:t>Estudiantes al escenario de práctica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124606"/>
              </p:ext>
            </p:extLst>
          </p:nvPr>
        </p:nvGraphicFramePr>
        <p:xfrm>
          <a:off x="590678" y="2275517"/>
          <a:ext cx="11151218" cy="3814062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482558">
                  <a:extLst>
                    <a:ext uri="{9D8B030D-6E8A-4147-A177-3AD203B41FA5}">
                      <a16:colId xmlns:a16="http://schemas.microsoft.com/office/drawing/2014/main" val="3379135088"/>
                    </a:ext>
                  </a:extLst>
                </a:gridCol>
                <a:gridCol w="3053542">
                  <a:extLst>
                    <a:ext uri="{9D8B030D-6E8A-4147-A177-3AD203B41FA5}">
                      <a16:colId xmlns:a16="http://schemas.microsoft.com/office/drawing/2014/main" val="2854324725"/>
                    </a:ext>
                  </a:extLst>
                </a:gridCol>
                <a:gridCol w="2599113">
                  <a:extLst>
                    <a:ext uri="{9D8B030D-6E8A-4147-A177-3AD203B41FA5}">
                      <a16:colId xmlns:a16="http://schemas.microsoft.com/office/drawing/2014/main" val="2429066868"/>
                    </a:ext>
                  </a:extLst>
                </a:gridCol>
                <a:gridCol w="2016005">
                  <a:extLst>
                    <a:ext uri="{9D8B030D-6E8A-4147-A177-3AD203B41FA5}">
                      <a16:colId xmlns:a16="http://schemas.microsoft.com/office/drawing/2014/main" val="1800146011"/>
                    </a:ext>
                  </a:extLst>
                </a:gridCol>
              </a:tblGrid>
              <a:tr h="827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CONDICIONES DE CALIDAD DE LA RDS  EVALUADAS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FORTALEZAS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DIFICULTADES</a:t>
                      </a:r>
                      <a:endParaRPr lang="es-CO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SUGERENCIAS PARA MEJORAR</a:t>
                      </a:r>
                      <a:endParaRPr lang="es-CO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extLst>
                  <a:ext uri="{0D108BD9-81ED-4DB2-BD59-A6C34878D82A}">
                    <a16:rowId xmlns:a16="http://schemas.microsoft.com/office/drawing/2014/main" val="4050539763"/>
                  </a:ext>
                </a:extLst>
              </a:tr>
              <a:tr h="272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1. ASPECTOS GENERALES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rowSpan="7">
                  <a:txBody>
                    <a:bodyPr/>
                    <a:lstStyle/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Alto flujo de pacientes quirúrgicos y exposición a casos clínicos complejos. </a:t>
                      </a:r>
                    </a:p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Ambiente propicio para el aprendizaje</a:t>
                      </a: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E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970" marR="36970" marT="0" marB="0" anchor="ctr"/>
                </a:tc>
                <a:tc rowSpan="7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s-ES" dirty="0" smtClean="0"/>
                        <a:t>El electrocardiógrafo del tercer piso presenta problemas y no siempre da resultados correctos.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A veces no se les permite a los estudiantes hacer uso del computador para ver los paraclínicos </a:t>
                      </a:r>
                      <a:r>
                        <a:rPr lang="es-ES" dirty="0" smtClean="0"/>
                        <a:t>o</a:t>
                      </a:r>
                      <a:endParaRPr lang="es-CO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970" marR="36970" marT="0" marB="0" anchor="b"/>
                </a:tc>
                <a:tc rowSpan="7">
                  <a:txBody>
                    <a:bodyPr/>
                    <a:lstStyle/>
                    <a:p>
                      <a:pPr marL="0" indent="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Mejorar los valores de algunos médicos generales.</a:t>
                      </a:r>
                    </a:p>
                    <a:p>
                      <a:pPr marL="0" indent="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</a:t>
                      </a: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espacio o </a:t>
                      </a:r>
                      <a:r>
                        <a:rPr lang="es-E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locker</a:t>
                      </a: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guardar los </a:t>
                      </a:r>
                      <a:r>
                        <a:rPr lang="es-E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extLst>
                  <a:ext uri="{0D108BD9-81ED-4DB2-BD59-A6C34878D82A}">
                    <a16:rowId xmlns:a16="http://schemas.microsoft.com/office/drawing/2014/main" val="1249209407"/>
                  </a:ext>
                </a:extLst>
              </a:tr>
              <a:tr h="403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2. CAPACIDAD INSTALADA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472801"/>
                  </a:ext>
                </a:extLst>
              </a:tr>
              <a:tr h="524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3. SEGURIDAD, PROTECCIÓN Y BIENESTAR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11691"/>
                  </a:ext>
                </a:extLst>
              </a:tr>
              <a:tr h="5441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4. ORGANIZACIÓN ADMINISTRATIVA PARA LA DOCENCIA SERVICIO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03872"/>
                  </a:ext>
                </a:extLst>
              </a:tr>
              <a:tr h="309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485623"/>
                  </a:ext>
                </a:extLst>
              </a:tr>
              <a:tr h="272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5.</a:t>
                      </a:r>
                      <a:r>
                        <a:rPr lang="es-ES" sz="1600" baseline="0" dirty="0" smtClean="0">
                          <a:effectLst/>
                        </a:rPr>
                        <a:t> </a:t>
                      </a:r>
                      <a:r>
                        <a:rPr lang="es-ES" sz="1600" dirty="0" smtClean="0">
                          <a:effectLst/>
                        </a:rPr>
                        <a:t>PRACTICAS </a:t>
                      </a:r>
                      <a:r>
                        <a:rPr lang="es-ES" sz="1600" dirty="0">
                          <a:effectLst/>
                        </a:rPr>
                        <a:t>FORMATIVAS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28222"/>
                  </a:ext>
                </a:extLst>
              </a:tr>
              <a:tr h="5441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6</a:t>
                      </a:r>
                      <a:r>
                        <a:rPr lang="es-ES" sz="1600" dirty="0" smtClean="0">
                          <a:effectLst/>
                        </a:rPr>
                        <a:t>. </a:t>
                      </a:r>
                      <a:r>
                        <a:rPr lang="es-ES" sz="1600" dirty="0">
                          <a:effectLst/>
                        </a:rPr>
                        <a:t>CULTURA DEL MEJORAMIENTO CONTINUO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00754"/>
                  </a:ext>
                </a:extLst>
              </a:tr>
            </a:tbl>
          </a:graphicData>
        </a:graphic>
      </p:graphicFrame>
      <p:sp>
        <p:nvSpPr>
          <p:cNvPr id="2" name="Rectángulo 1"/>
          <p:cNvSpPr/>
          <p:nvPr/>
        </p:nvSpPr>
        <p:spPr>
          <a:xfrm>
            <a:off x="7019259" y="533989"/>
            <a:ext cx="4551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1F4E79"/>
                </a:solidFill>
                <a:latin typeface="Tahoma" panose="020B0604030504040204" pitchFamily="34" charset="0"/>
              </a:rPr>
              <a:t>OBSERVACIONES DE LA EVALUACIÓN</a:t>
            </a:r>
            <a:r>
              <a:rPr lang="es-CO" dirty="0">
                <a:solidFill>
                  <a:srgbClr val="000000"/>
                </a:solidFill>
                <a:latin typeface="Tahoma" panose="020B0604030504040204" pitchFamily="34" charset="0"/>
              </a:rPr>
              <a:t>​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65391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693820" y="1042638"/>
            <a:ext cx="10278980" cy="892059"/>
          </a:xfrm>
        </p:spPr>
        <p:txBody>
          <a:bodyPr/>
          <a:lstStyle/>
          <a:p>
            <a:r>
              <a:rPr lang="es-CO" sz="3200" dirty="0"/>
              <a:t>Docentes al escenario de práctica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134683"/>
              </p:ext>
            </p:extLst>
          </p:nvPr>
        </p:nvGraphicFramePr>
        <p:xfrm>
          <a:off x="535260" y="1934696"/>
          <a:ext cx="11151218" cy="4561489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642880">
                  <a:extLst>
                    <a:ext uri="{9D8B030D-6E8A-4147-A177-3AD203B41FA5}">
                      <a16:colId xmlns:a16="http://schemas.microsoft.com/office/drawing/2014/main" val="3379135088"/>
                    </a:ext>
                  </a:extLst>
                </a:gridCol>
                <a:gridCol w="2131758">
                  <a:extLst>
                    <a:ext uri="{9D8B030D-6E8A-4147-A177-3AD203B41FA5}">
                      <a16:colId xmlns:a16="http://schemas.microsoft.com/office/drawing/2014/main" val="2854324725"/>
                    </a:ext>
                  </a:extLst>
                </a:gridCol>
                <a:gridCol w="2044763">
                  <a:extLst>
                    <a:ext uri="{9D8B030D-6E8A-4147-A177-3AD203B41FA5}">
                      <a16:colId xmlns:a16="http://schemas.microsoft.com/office/drawing/2014/main" val="2429066868"/>
                    </a:ext>
                  </a:extLst>
                </a:gridCol>
                <a:gridCol w="2331817">
                  <a:extLst>
                    <a:ext uri="{9D8B030D-6E8A-4147-A177-3AD203B41FA5}">
                      <a16:colId xmlns:a16="http://schemas.microsoft.com/office/drawing/2014/main" val="1800146011"/>
                    </a:ext>
                  </a:extLst>
                </a:gridCol>
              </a:tblGrid>
              <a:tr h="15753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CONDICIONES DE CALIDAD DE LA RDS  EVALUADAS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FORTALEZAS</a:t>
                      </a:r>
                      <a:endParaRPr lang="es-CO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DIFICULTADES</a:t>
                      </a:r>
                      <a:endParaRPr lang="es-CO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SUGERENCIAS PARA MEJORAR</a:t>
                      </a:r>
                      <a:endParaRPr lang="es-CO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extLst>
                  <a:ext uri="{0D108BD9-81ED-4DB2-BD59-A6C34878D82A}">
                    <a16:rowId xmlns:a16="http://schemas.microsoft.com/office/drawing/2014/main" val="4050539763"/>
                  </a:ext>
                </a:extLst>
              </a:tr>
              <a:tr h="272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1. ASPECTOS GENERALES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rowSpan="7">
                  <a:txBody>
                    <a:bodyPr/>
                    <a:lstStyle/>
                    <a:p>
                      <a:pPr marL="0" indent="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r>
                        <a:rPr lang="es-ES" sz="1600" dirty="0" smtClean="0">
                          <a:effectLst/>
                        </a:rPr>
                        <a:t>Escenarios muy completos, organizados la disponibilidad de docencia servicio siempre atentos.</a:t>
                      </a:r>
                    </a:p>
                    <a:p>
                      <a:pPr marL="0" indent="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colabores siempre dispuesto apoyar a los estudiantes. </a:t>
                      </a:r>
                      <a:endParaRPr lang="es-CO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970" marR="36970" marT="0" marB="0" anchor="ctr"/>
                </a:tc>
                <a:tc rowSpan="7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CO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b"/>
                </a:tc>
                <a:tc rowSpan="7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Lo único son los espacios en el área de cirugía no se tiene uno adecuado cuando los estudiantes no estén en los quirófanos,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extLst>
                  <a:ext uri="{0D108BD9-81ED-4DB2-BD59-A6C34878D82A}">
                    <a16:rowId xmlns:a16="http://schemas.microsoft.com/office/drawing/2014/main" val="1249209407"/>
                  </a:ext>
                </a:extLst>
              </a:tr>
              <a:tr h="403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2. CAPACIDAD INSTALADA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472801"/>
                  </a:ext>
                </a:extLst>
              </a:tr>
              <a:tr h="524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3. SEGURIDAD, PROTECCIÓN Y BIENESTAR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11691"/>
                  </a:ext>
                </a:extLst>
              </a:tr>
              <a:tr h="5441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4. ORGANIZACIÓN ADMINISTRATIVA PARA LA DOCENCIA SERVICIO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03872"/>
                  </a:ext>
                </a:extLst>
              </a:tr>
              <a:tr h="309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485623"/>
                  </a:ext>
                </a:extLst>
              </a:tr>
              <a:tr h="272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5</a:t>
                      </a:r>
                      <a:r>
                        <a:rPr lang="es-ES" sz="1600" dirty="0" smtClean="0">
                          <a:effectLst/>
                        </a:rPr>
                        <a:t>. </a:t>
                      </a:r>
                      <a:r>
                        <a:rPr lang="es-ES" sz="1600" dirty="0">
                          <a:effectLst/>
                        </a:rPr>
                        <a:t>PRACTICAS FORMATIVAS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28222"/>
                  </a:ext>
                </a:extLst>
              </a:tr>
              <a:tr h="5441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6</a:t>
                      </a:r>
                      <a:r>
                        <a:rPr lang="es-ES" sz="1600" dirty="0" smtClean="0">
                          <a:effectLst/>
                        </a:rPr>
                        <a:t>. </a:t>
                      </a:r>
                      <a:r>
                        <a:rPr lang="es-ES" sz="1600" dirty="0">
                          <a:effectLst/>
                        </a:rPr>
                        <a:t>CULTURA DEL MEJORAMIENTO CONTINUO</a:t>
                      </a:r>
                      <a:endParaRPr lang="es-CO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970" marR="36970" marT="0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00754"/>
                  </a:ext>
                </a:extLst>
              </a:tr>
            </a:tbl>
          </a:graphicData>
        </a:graphic>
      </p:graphicFrame>
      <p:sp>
        <p:nvSpPr>
          <p:cNvPr id="2" name="Rectángulo 1"/>
          <p:cNvSpPr/>
          <p:nvPr/>
        </p:nvSpPr>
        <p:spPr>
          <a:xfrm>
            <a:off x="6799104" y="528843"/>
            <a:ext cx="4551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1F4E79"/>
                </a:solidFill>
                <a:latin typeface="Tahoma" panose="020B0604030504040204" pitchFamily="34" charset="0"/>
              </a:rPr>
              <a:t>OBSERVACIONES DE LA EVALUACIÓN</a:t>
            </a:r>
            <a:r>
              <a:rPr lang="es-CO" dirty="0">
                <a:solidFill>
                  <a:srgbClr val="000000"/>
                </a:solidFill>
                <a:latin typeface="Tahoma" panose="020B0604030504040204" pitchFamily="34" charset="0"/>
              </a:rPr>
              <a:t>​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32061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6726510" y="319490"/>
            <a:ext cx="40591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OPORTUNIDADES DE MEJORA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6857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609272"/>
      </p:ext>
    </p:extLst>
  </p:cSld>
  <p:clrMapOvr>
    <a:masterClrMapping/>
  </p:clrMapOvr>
</p:sld>
</file>

<file path=ppt/theme/theme1.xml><?xml version="1.0" encoding="utf-8"?>
<a:theme xmlns:a="http://schemas.openxmlformats.org/drawingml/2006/main" name="5629 tema udes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7AA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479B"/>
      </a:accent6>
      <a:hlink>
        <a:srgbClr val="0563C1"/>
      </a:hlink>
      <a:folHlink>
        <a:srgbClr val="000F91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sin linea" id="{4A4C8FB0-598C-C143-B4BC-AB086D801909}" vid="{9780A9B5-80D2-D447-A69D-77E067145CBB}"/>
    </a:ext>
  </a:extLst>
</a:theme>
</file>

<file path=ppt/theme/theme2.xml><?xml version="1.0" encoding="utf-8"?>
<a:theme xmlns:a="http://schemas.openxmlformats.org/drawingml/2006/main" name="1_5629 tema udes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7AA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479B"/>
      </a:accent6>
      <a:hlink>
        <a:srgbClr val="0563C1"/>
      </a:hlink>
      <a:folHlink>
        <a:srgbClr val="000F91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sin linea" id="{4A4C8FB0-598C-C143-B4BC-AB086D801909}" vid="{9780A9B5-80D2-D447-A69D-77E067145CBB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06e4e7-751c-4df5-88e3-bb755d30108e" xsi:nil="true"/>
    <lcf76f155ced4ddcb4097134ff3c332f xmlns="4d20c312-23be-4daf-9504-46e02e57eca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FDE090B1C4EA345930140B56949FD62" ma:contentTypeVersion="11" ma:contentTypeDescription="Crear nuevo documento." ma:contentTypeScope="" ma:versionID="756e25fe9a5aac3e24ad797147885cbc">
  <xsd:schema xmlns:xsd="http://www.w3.org/2001/XMLSchema" xmlns:xs="http://www.w3.org/2001/XMLSchema" xmlns:p="http://schemas.microsoft.com/office/2006/metadata/properties" xmlns:ns2="4d20c312-23be-4daf-9504-46e02e57eca1" xmlns:ns3="7706e4e7-751c-4df5-88e3-bb755d30108e" targetNamespace="http://schemas.microsoft.com/office/2006/metadata/properties" ma:root="true" ma:fieldsID="d5e43a3aaf4461ce19886584aca4e19b" ns2:_="" ns3:_="">
    <xsd:import namespace="4d20c312-23be-4daf-9504-46e02e57eca1"/>
    <xsd:import namespace="7706e4e7-751c-4df5-88e3-bb755d30108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20c312-23be-4daf-9504-46e02e57eca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5cd80423-a865-4216-8bbb-05aca56b21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06e4e7-751c-4df5-88e3-bb755d30108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c81131b-00a7-4244-bbd5-ebac760135b6}" ma:internalName="TaxCatchAll" ma:showField="CatchAllData" ma:web="7706e4e7-751c-4df5-88e3-bb755d3010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F055D2-11A7-4C92-8D9B-964D4FF58B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C504B5-607B-41FD-8C09-E997BD352BED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7706e4e7-751c-4df5-88e3-bb755d30108e"/>
    <ds:schemaRef ds:uri="4d20c312-23be-4daf-9504-46e02e57eca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A21CD18-37F2-48F5-8DEC-3B7FB7756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20c312-23be-4daf-9504-46e02e57eca1"/>
    <ds:schemaRef ds:uri="7706e4e7-751c-4df5-88e3-bb755d301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5629 tema udes</Template>
  <TotalTime>1040</TotalTime>
  <Words>795</Words>
  <Application>Microsoft Office PowerPoint</Application>
  <PresentationFormat>Panorámica</PresentationFormat>
  <Paragraphs>146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Franklin Gothic Book</vt:lpstr>
      <vt:lpstr>Tahoma</vt:lpstr>
      <vt:lpstr>Times New Roman</vt:lpstr>
      <vt:lpstr>5629 tema udes</vt:lpstr>
      <vt:lpstr>1_5629 tema udes</vt:lpstr>
      <vt:lpstr>Presentación de PowerPoint</vt:lpstr>
      <vt:lpstr>INFORME DE AUTOEVALUACIÓN  PRÁCTICAS FORMATIVAS </vt:lpstr>
      <vt:lpstr>ESTUDIANTES</vt:lpstr>
      <vt:lpstr>Presentación de PowerPoint</vt:lpstr>
      <vt:lpstr>Presentación de PowerPoint</vt:lpstr>
      <vt:lpstr>Presentación de PowerPoint</vt:lpstr>
      <vt:lpstr>EVALUACIÓN DE LA RELACIÓN DOCENCIA SERVICIO</vt:lpstr>
      <vt:lpstr>OBSERVACIONES DE LA EVALUACIÓN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Diseñadora Imprenta 1</dc:creator>
  <cp:lastModifiedBy>Cooordinacion Practicas Programa Medicina</cp:lastModifiedBy>
  <cp:revision>50</cp:revision>
  <dcterms:created xsi:type="dcterms:W3CDTF">2023-11-28T15:08:18Z</dcterms:created>
  <dcterms:modified xsi:type="dcterms:W3CDTF">2026-06-02T16:53:26Z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0x0101002FDE090B1C4EA345930140B56949FD62</vt:lpwstr>
  </property>
</Properties>
</file>